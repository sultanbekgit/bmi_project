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League Spartan" charset="1" panose="00000800000000000000"/>
      <p:regular r:id="rId25"/>
    </p:embeddedFont>
    <p:embeddedFont>
      <p:font typeface="Source Sans 3" charset="1" panose="020B0303030403020204"/>
      <p:regular r:id="rId26"/>
    </p:embeddedFont>
    <p:embeddedFont>
      <p:font typeface="Source Sans 3 Bold" charset="1" panose="020B0303030403020204"/>
      <p:regular r:id="rId27"/>
    </p:embeddedFont>
    <p:embeddedFont>
      <p:font typeface="Arimo Bold" charset="1" panose="020B0704020202020204"/>
      <p:regular r:id="rId37"/>
    </p:embeddedFont>
    <p:embeddedFont>
      <p:font typeface="Arimo" charset="1" panose="020B06040202020202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notesSlides/notesSlide2.xml" Type="http://schemas.openxmlformats.org/officeDocument/2006/relationships/notesSlide"/><Relationship Id="rId29" Target="notesSlides/notesSlide3.xml" Type="http://schemas.openxmlformats.org/officeDocument/2006/relationships/notesSlide"/><Relationship Id="rId3" Target="viewProps.xml" Type="http://schemas.openxmlformats.org/officeDocument/2006/relationships/view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notesSlides/notesSlide7.xml" Type="http://schemas.openxmlformats.org/officeDocument/2006/relationships/notesSlide"/><Relationship Id="rId34" Target="notesSlides/notesSlide8.xml" Type="http://schemas.openxmlformats.org/officeDocument/2006/relationships/notesSlide"/><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fonts/font37.fntdata" Type="http://schemas.openxmlformats.org/officeDocument/2006/relationships/font"/><Relationship Id="rId38" Target="fonts/font38.fntdata" Type="http://schemas.openxmlformats.org/officeDocument/2006/relationships/font"/><Relationship Id="rId39" Target="notesSlides/notesSlide11.xml" Type="http://schemas.openxmlformats.org/officeDocument/2006/relationships/notesSlide"/><Relationship Id="rId4" Target="theme/theme1.xml" Type="http://schemas.openxmlformats.org/officeDocument/2006/relationships/theme"/><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question: does a motor-imagery decoder trained on one day still work on later days? We test it on BNCI2014-004 (BCI Competition IV 2b, Graz): 9 subjects, 5 sessions on different days, left vs right hand imagery. Spoiler: once the comparison is fair, we find no measurable drift in left/right separation - a well-tested negative result - but a small shift of the decision threshold.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BCI is calibrated on one day and then used on later days. Between days the electrodes sit slightly differently, impedance and fatigue change, and people learn - so the EEG features a decoder relies on can shift. That is session-to-session drift. If it is real, a decoder trained on an earlier day should perform worse on a new day than a decoder trained on that same day.</a:t>
            </a:r>
          </a:p>
          <a:p>
            <a:r>
              <a:rPr lang="en-US"/>
              <a:t/>
            </a:r>
          </a:p>
          <a:p>
            <a:r>
              <a:rPr lang="en-US"/>
              <a:t>Full disclosure: our first version (v1) used MOABB's ready-made epochs, an EOG correction fitted on task data, no trial cleaning and imprecise band edges, and found no drift from day 1 to day 2. The hypotheses were written before v1's results and kept unchanged; this version fixes the data preparation and adds H1b.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All three hypotheses and decision rules were fixed before running the analysis.</a:t>
            </a:r>
          </a:p>
          <a:p>
            <a:r>
              <a:rPr lang="en-US"/>
              <a:t/>
            </a:r>
          </a:p>
          <a:p>
            <a:r>
              <a:rPr lang="en-US"/>
              <a:t>H1a (primary): trained on session 1, tested on session 2 - both screening, different days. ROC AUC is lower than within-session cross-validation on session 2, with the same number of training trials.</a:t>
            </a:r>
          </a:p>
          <a:p>
            <a:r>
              <a:rPr lang="en-US"/>
              <a:t>H1b (secondary, added and fixed before its first run): the same inside the feedback paradigm - trained on session 3, tested on sessions 4 and 5, averaged.</a:t>
            </a:r>
          </a:p>
          <a:p>
            <a:r>
              <a:rPr lang="en-US"/>
              <a:t>H2: two label-free fixes reduce the drift cost. C is baseline-relative power: log power 3.5-5.5 s minus 0.5-1.5 s. D is per-session z-scoring of the features - the hypothesis from our README. Drift cost is averaged over both transfers, one-sided Wilcoxon per fix, Holm-corrected, and cross-session AUC must not drop significantly.</a:t>
            </a:r>
          </a:p>
          <a:p>
            <a:r>
              <a:rPr lang="en-US"/>
              <a:t/>
            </a:r>
          </a:p>
          <a:p>
            <a:r>
              <a:rPr lang="en-US"/>
              <a:t>Drift cost = within-session AUC minus cross-session AUC. Secondary metric everywhere: balanced accuracy at the default threshold. AUC only asks whether right-hand trials score higher than left-hand trials; if a new day shifts all scores together, AUC stays the same but accuracy drops. Comparing the two tells us which kind of drift we see.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BNCI2014-004 is BCI Competition IV dataset 2b from Graz. 9 subjects, 5 sessions each on different days: sessions 1-2 are screening without feedback, sessions 3-5 have smiley feedback. Task: left vs right hand motor imagery, classes balanced in every session.</a:t>
            </a:r>
          </a:p>
          <a:p>
            <a:r>
              <a:rPr lang="en-US"/>
              <a:t/>
            </a:r>
          </a:p>
          <a:p>
            <a:r>
              <a:rPr lang="en-US"/>
              <a:t>We read the competition .mat files ourselves instead of MOABB's ready-made epochs, so we keep every field: signal, trial onsets, labels, expert artifact flags, age and gender. Checks passed: 250 Hz everywhere, classes balanced. Most sessions have 120 (screening) or 160 (feedback) trials; four differ and we use what the files contain.</a:t>
            </a:r>
          </a:p>
          <a:p>
            <a:r>
              <a:rPr lang="en-US"/>
              <a:t/>
            </a:r>
          </a:p>
          <a:p>
            <a:r>
              <a:rPr lang="en-US"/>
              <a:t>Each EEG channel is a bipolar pair ~2.5 cm apart around C3, Cz or C4. C3 and C4 sit over the left and right hand area of primary motor cortex; imagining the right hand should reduce mu/beta power at C3, the left hand at C4.</a:t>
            </a:r>
          </a:p>
          <a:p>
            <a:r>
              <a:rPr lang="en-US"/>
              <a:t/>
            </a:r>
          </a:p>
          <a:p>
            <a:r>
              <a:rPr lang="en-US"/>
              <a:t>Most important audit finding: the ~3.6 minutes before the first trial are a recording of deliberate eye movements and blinks - we use it for EOG correction. 1,253 of 6,520 trials (19.2%) are flagged as artifacts by the dataset authors.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Same steps for every session.</a:t>
            </a:r>
          </a:p>
          <a:p>
            <a:r>
              <a:rPr lang="en-US"/>
              <a:t>1. Units and MNE object: files store microvolts, MNE works in volts. Channels are bipolar, so no re-referencing.</a:t>
            </a:r>
          </a:p>
          <a:p>
            <a:r>
              <a:rPr lang="en-US"/>
              <a:t>2. Zero-phase FIR band-pass 1-40 Hz on the continuous signal: removes slow drift, keeps everything up to the highest band edge (30 Hz). 50 Hz line noise was already notched by the amplifier.</a:t>
            </a:r>
          </a:p>
          <a:p>
            <a:r>
              <a:rPr lang="en-US"/>
              <a:t>3. EOG regression (notebook 04): we estimate how much each EOG channel leaks into each EEG channel from the pre-trial calibration recording, where the person moved the eyes on purpose, and subtract that leak from the whole session. A separate recording is cleaner than fitting on task data and uses no labels. 43 of 45 sessions had at least 60 s of calibration; the other 2 fall back to the whole session, also label-free.</a:t>
            </a:r>
          </a:p>
          <a:p>
            <a:r>
              <a:rPr lang="en-US"/>
              <a:t>4. Epochs 0-7.5 s from trial start; cue at ~3 s; feature window 3.5-5.5 s.</a:t>
            </a:r>
          </a:p>
          <a:p>
            <a:r>
              <a:rPr lang="en-US"/>
              <a:t>5. Cleaning rule, applied only to trials used for training: a trial is left out if the authors flagged it, or its log-variance is more than 5 robust SDs from the session median on any channel. That is 1,272 of 6,520 trials (19.5%): 1,253 expert-flagged plus 19 extra outliers. Scored trials are never removed - an online BCI must classify every trial, and both comparisons are scored on the same trials.</a:t>
            </a:r>
          </a:p>
          <a:p>
            <a:r>
              <a:rPr lang="en-US"/>
              <a:t>6. Log Welch band power features (next slides).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decoding anything we checked that the expected brain response is there.</a:t>
            </a:r>
          </a:p>
          <a:p>
            <a:r>
              <a:rPr lang="en-US"/>
              <a:t/>
            </a:r>
          </a:p>
          <a:p>
            <a:r>
              <a:rPr lang="en-US"/>
              <a:t>Top: ERD = percent change of band power relative to the pre-cue period (0.5-2.5 s), averaged over trials first and then expressed in percent - the classic definition. Grand average of 9 subjects, screening (S1-S2) and feedback (S3-S5) shown separately. After the cue at ~3 s, power drops more at C3 for the right hand and more at C4 for the left hand, in both mu and beta. The grey feature window sits inside that drop.</a:t>
            </a:r>
          </a:p>
          <a:p>
            <a:r>
              <a:rPr lang="en-US"/>
              <a:t/>
            </a:r>
          </a:p>
          <a:p>
            <a:r>
              <a:rPr lang="en-US"/>
              <a:t>Bottom: time-frequency view - signed r-squared between band power and the class (right = +1), per 4-Hz band and time point, all sessions averaged. Blue at C3 and red at C4 is the expected contralateral ERD; the boxes mark our mu (8-12 Hz) and beta (13-30 Hz) bands in the feature window.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Features: mean Welch PSD over 1-Hz bins 8-12 Hz (mu) and 13-30 Hz (beta) at C3, Cz and C4, natural log - 6 features. Three variants: A raw log power (the standard pipeline), C baseline-relative (each trial's log power in 3.5-5.5 s minus its own log power in 0.5-1.5 s), D session z-scored (each feature standardised with the mean and SD of all trials of its own session, no labels).</a:t>
            </a:r>
          </a:p>
          <a:p>
            <a:r>
              <a:rPr lang="en-US"/>
              <a:t/>
            </a:r>
          </a:p>
          <a:p>
            <a:r>
              <a:rPr lang="en-US"/>
              <a:t>Evaluation for a training session a and a scored session b:</a:t>
            </a:r>
          </a:p>
          <a:p>
            <a:r>
              <a:rPr lang="en-US"/>
              <a:t>- Within-session: leave-one-run-out CV inside b; training folds use only cleaned trials; every trial of the held-out run is scored.</a:t>
            </a:r>
          </a:p>
          <a:p>
            <a:r>
              <a:rPr lang="en-US"/>
              <a:t>- Cross-session: fit on the cleaned trials of a; score every trial of b.</a:t>
            </a:r>
          </a:p>
          <a:p>
            <a:r>
              <a:rPr lang="en-US"/>
              <a:t>- Same scoring on both sides: AUC computed run by run on exactly the same trials, then averaged. (Pooling out-of-fold scores - our v1 method - penalises the within side for offset differences between fold models; kept as a sensitivity analysis.)</a:t>
            </a:r>
          </a:p>
          <a:p>
            <a:r>
              <a:rPr lang="en-US"/>
              <a:t>- Matched size: both decoders get the same number of training trials, drawn class-stratified at random 20 times.</a:t>
            </a:r>
          </a:p>
          <a:p>
            <a:r>
              <a:rPr lang="en-US"/>
              <a:t/>
            </a:r>
          </a:p>
          <a:p>
            <a:r>
              <a:rPr lang="en-US"/>
              <a:t>Validation V2: with shuffled training labels the mean AUC is 0.502 on the within side and 0.501 on the cross side - so nothing leaks. Cross-session decoding is above chance (Mann-Whitney p &lt; 0.05) in 7 of 9 subjects for both transfers.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Drift you can see before decoding anything.</a:t>
            </a:r>
          </a:p>
          <a:p>
            <a:r>
              <a:rPr lang="en-US"/>
              <a:t/>
            </a:r>
          </a:p>
          <a:p>
            <a:r>
              <a:rPr lang="en-US"/>
              <a:t>Top left and middle: mean log mu power at C3 and C4 in each session relative to session 1, one line per subject. With raw features (A) the overall power level clearly moves between days; the baseline-relative version (C) moves less. No labels, no decoder.</a:t>
            </a:r>
          </a:p>
          <a:p>
            <a:r>
              <a:rPr lang="en-US"/>
              <a:t/>
            </a:r>
          </a:p>
          <a:p>
            <a:r>
              <a:rPr lang="en-US"/>
              <a:t>Top right: each day decoded on its own (within-session AUC). Median: S1 0.73, S2 0.65, S3 0.90, S4 0.84, S5 0.89 - subjects get much better once feedback starts.</a:t>
            </a:r>
          </a:p>
          <a:p>
            <a:r>
              <a:rPr lang="en-US"/>
              <a:t/>
            </a:r>
          </a:p>
          <a:p>
            <a:r>
              <a:rPr lang="en-US"/>
              <a:t>Bottom: grand-average contrast of mu ERD (right-hand minus left-hand imagery) in the feature window, on the head for each session. A stable pattern is blue at C3 and red at C4 every day - and that is what we see.</a:t>
            </a:r>
          </a:p>
          <a:p>
            <a:r>
              <a:rPr lang="en-US"/>
              <a:t/>
            </a:r>
          </a:p>
          <a:p>
            <a:r>
              <a:rPr lang="en-US"/>
              <a:t>Also (notebook section 9 iii): decoders fitted separately on each day point in similar directions - cosine similarity between weight vectors 0.63-0.84. So the level moves, but the discriminative pattern stays.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Main result: no measurable drift in class separation. A decoder trained on an earlier day separated left from right hand on a new day as well as a decoder trained on that same day, once both had the same number of training trials.</a:t>
            </a:r>
          </a:p>
          <a:p>
            <a:r>
              <a:rPr lang="en-US"/>
              <a:t/>
            </a:r>
          </a:p>
          <a:p>
            <a:r>
              <a:rPr lang="en-US"/>
              <a:t>H1a, S1 to S2 (about 79 training trials per decoder): within 0.677 vs cross 0.656 median AUC; median drift cost -0.002; positive in only 4 of 9 subjects; one-sided p = 0.55. Not supported.</a:t>
            </a:r>
          </a:p>
          <a:p>
            <a:r>
              <a:rPr lang="en-US"/>
              <a:t>H1b, S3 to S4/S5: within 0.872 vs cross 0.869; drift +0.003; 6 of 9 positive; p = 0.08. Not supported.</a:t>
            </a:r>
          </a:p>
          <a:p>
            <a:r>
              <a:rPr lang="en-US"/>
              <a:t/>
            </a:r>
          </a:p>
          <a:p>
            <a:r>
              <a:rPr lang="en-US"/>
              <a:t>Cross-session decoding is still clearly above chance in 7 of 9 subjects for both transfers.</a:t>
            </a:r>
          </a:p>
          <a:p>
            <a:r>
              <a:rPr lang="en-US"/>
              <a:t/>
            </a:r>
          </a:p>
          <a:p>
            <a:r>
              <a:rPr lang="en-US"/>
              <a:t>What does drift is the decision threshold, a little. In feedback sessions balanced accuracy at the default threshold drops slightly but consistently: +0.011, p = 0.014 (secondary metric). AUC ignores where the threshold sits; accuracy does not. So on a new day the whole score distribution shifts a bit while the left/right ordering stays.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Every subject, both transfers. Each line connects one subject's within-session score (blue, left) to the score of the decoder trained on the earlier day (orange, right); red means a drop, green a gain.</a:t>
            </a:r>
          </a:p>
          <a:p>
            <a:r>
              <a:rPr lang="en-US"/>
              <a:t/>
            </a:r>
          </a:p>
          <a:p>
            <a:r>
              <a:rPr lang="en-US"/>
              <a:t>Top row is ROC AUC. For S1 to S2, 4 of 9 subjects drop and 5 do not; the big drops are sub7 (0.71 to 0.56) and sub8. For S3 to S4/S5 the lines are almost flat. One-sided p = 0.55 and 0.08.</a:t>
            </a:r>
          </a:p>
          <a:p>
            <a:r>
              <a:rPr lang="en-US"/>
              <a:t/>
            </a:r>
          </a:p>
          <a:p>
            <a:r>
              <a:rPr lang="en-US"/>
              <a:t>Bottom row is balanced accuracy at the default threshold. In the feedback sessions nearly every line is red - a small but consistent drop, p = 0.014. That is the signature of a threshold or offset shift, not a loss of class separation.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One subject, chosen by a fixed rule: among subjects decoded well on session 3 (within-session AUC at least 0.8), the one whose mean mu power moved most between session 3 and sessions 4-5 - no decoder involved. That is subject 7, with a mean shift of 0.31 log units.</a:t>
            </a:r>
          </a:p>
          <a:p>
            <a:r>
              <a:rPr lang="en-US"/>
              <a:t/>
            </a:r>
          </a:p>
          <a:p>
            <a:r>
              <a:rPr lang="en-US"/>
              <a:t>Each panel is one day: trials as points in the plane of log mu power at C3 (x) and C4 (y). The black line is a 2-feature decoder fitted on session 3 only and kept fixed. Top row: raw features (A). Bottom row: session z-scored (D). Accuracy of the fixed line on each day is in the panel title. This is an illustration only - the real decoder uses all 6 features.</a:t>
            </a:r>
          </a:p>
          <a:p>
            <a:r>
              <a:rPr lang="en-US"/>
              <a:t/>
            </a:r>
          </a:p>
          <a:p>
            <a:r>
              <a:rPr lang="en-US"/>
              <a:t>Take-away: the clouds move together across days, but left and right stay on the same sides relative to each other - so the ordering (AUC) survives while a fixed threshold can lose accuracy.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H2: do the two label-free fixes reduce the drift cost? Outcome per subject is the drift cost averaged over both transfers; one-sided Wilcoxon, Holm-corrected over the two fixes; a fix only counts if cross-session AUC does not drop significantly.</a:t>
            </a:r>
          </a:p>
          <a:p>
            <a:r>
              <a:rPr lang="en-US"/>
              <a:t/>
            </a:r>
          </a:p>
          <a:p>
            <a:r>
              <a:rPr lang="en-US"/>
              <a:t>C, baseline-relative power, made decoding clearly worse: cross-session AUC -0.066 (p = 0.004) and within-session AUC -0.11. A 1-s single-trial baseline adds noise, and in feedback sessions that window falls on a rising and falling mu transition. Drift reduction -0.003, Holm p = 0.91.</a:t>
            </a:r>
          </a:p>
          <a:p>
            <a:r>
              <a:rPr lang="en-US"/>
              <a:t/>
            </a:r>
          </a:p>
          <a:p>
            <a:r>
              <a:rPr lang="en-US"/>
              <a:t>D, per-session z-scoring - the hypothesis from our README - changed nothing in AUC: drift reduction +0.000, Holm p = 0.91, cross-session AUC unchanged. Within-session results for D equal A by construction, because the decoder standardises features anyway. The realistic online version that uses only the new day's first run (sensitivity c) was not better either.</a:t>
            </a:r>
          </a:p>
          <a:p>
            <a:r>
              <a:rPr lang="en-US"/>
              <a:t/>
            </a:r>
          </a:p>
          <a:p>
            <a:r>
              <a:rPr lang="en-US"/>
              <a:t>Not supported, as expected when there is no AUC drift to remove. The figure shows drift cost, cross-session and within-session AUC for A, C and D, both transfers.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Why the team's first notebook found no drift - for the wrong reason.</a:t>
            </a:r>
          </a:p>
          <a:p>
            <a:r>
              <a:rPr lang="en-US"/>
              <a:t/>
            </a:r>
          </a:p>
          <a:p>
            <a:r>
              <a:rPr lang="en-US"/>
              <a:t>Same scored day (S2), different training sets. Median AUC on S2: within S2 with matched size 0.677; trained on S1 with matched size 0.656; trained on all of S1 0.670; MOABB-style training on all four other sessions 0.697 (about 468 training trials).</a:t>
            </a:r>
          </a:p>
          <a:p>
            <a:r>
              <a:rPr lang="en-US"/>
              <a:t/>
            </a:r>
          </a:p>
          <a:p>
            <a:r>
              <a:rPr lang="en-US"/>
              <a:t>MOABB's leave-one-session-out evaluation trains on four sessions, including days after the scored one. That beats training on the scored day itself in 7 of 9 subjects, median +0.016 AUC, because more data outweighs any day-to-day change. So it cannot test drift. Only matched-size, past-only comparisons can.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Does the conclusion depend on our choices? Six analyses planned in advance.</a:t>
            </a:r>
          </a:p>
          <a:p>
            <a:r>
              <a:rPr lang="en-US"/>
              <a:t>(a) No trial cleaning: H1a p = 0.21, H1b p = 0.21.</a:t>
            </a:r>
          </a:p>
          <a:p>
            <a:r>
              <a:rPr lang="en-US"/>
              <a:t>(b) No EOG regression: H1a p = 0.59, H1b p = 0.08.</a:t>
            </a:r>
          </a:p>
          <a:p>
            <a:r>
              <a:rPr lang="en-US"/>
              <a:t>(c) New day z-scored from its first run only, runs 2+ scored - the realistic online version: H1a p = 0.50, H1b p = 0.065.</a:t>
            </a:r>
          </a:p>
          <a:p>
            <a:r>
              <a:rPr lang="en-US"/>
              <a:t>(d) Unmatched training size: H1a p = 0.59, H1b p = 0.18.</a:t>
            </a:r>
          </a:p>
          <a:p>
            <a:r>
              <a:rPr lang="en-US"/>
              <a:t>(e) MOABB-style leave-one-session-out training: training on four sessions beats the scored day itself (median -0.016 within minus LOSO; within wins in only 2 of 9).</a:t>
            </a:r>
          </a:p>
          <a:p>
            <a:r>
              <a:rPr lang="en-US"/>
              <a:t>(f) Pooled out-of-fold AUC, our v1 method: H1a p = 0.67, H1b p = 0.46.</a:t>
            </a:r>
          </a:p>
          <a:p>
            <a:r>
              <a:rPr lang="en-US"/>
              <a:t>In every case H1a and H1b stay non-significant and fix D never reduces drift (all D p-values 0.59-0.90). The shuffled-label check (V2) passed: mean AUC 0.502 within, 0.501 cross.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Answer: no measurable drift in class separation. A decoder trained on an earlier day separates left from right hand on a new day as well as one trained on that same day, once both have the same number of training trials. This holds in all six sensitivity analyses.</a:t>
            </a:r>
          </a:p>
          <a:p>
            <a:r>
              <a:rPr lang="en-US"/>
              <a:t/>
            </a:r>
          </a:p>
          <a:p>
            <a:r>
              <a:rPr lang="en-US"/>
              <a:t>What does drift is the decision threshold, a little: in feedback sessions balanced accuracy drops slightly but consistently (p = 0.014). The whole score distribution shifts while the ordering stays - which matches the feature plots: overall mu power moves between days, while the class contrast on the head and the decoder weights stay similar (cosine similarity 0.63-0.84). Practical implication: re-estimate the bias on a new day, not the whole decoder.</a:t>
            </a:r>
          </a:p>
          <a:p>
            <a:r>
              <a:rPr lang="en-US"/>
              <a:t/>
            </a:r>
          </a:p>
          <a:p>
            <a:r>
              <a:rPr lang="en-US"/>
              <a:t>Why no drift, physiologically: subjects improve with feedback - within-session AUC rises from 0.65-0.73 in screening to 0.84-0.90 in feedback. The contralateral mu pattern gets stronger rather than weaker, so a decoder from an earlier day still points the right way.</a:t>
            </a:r>
          </a:p>
          <a:p>
            <a:r>
              <a:rPr lang="en-US"/>
              <a:t/>
            </a:r>
          </a:p>
          <a:p>
            <a:r>
              <a:rPr lang="en-US"/>
              <a:t>Limitations: 9 subjects, 3 bipolar channels (we cannot localise sources), one dataset, methods limited to notebooks 00-06. Deviations from the plan, all fixed before interpretation: after an independent code review we score both sides run by run instead of pooled out-of-fold AUC (pooled kept as sensitivity f); in sensitivity (c) only the scored day uses first-run statistics; a seeding bug in the V2 shuffle check was fixed.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you. Methods follow notebooks 00-06 of the ROBT613 BCI Workshop (MNE data model, FIR filtering, EOG regression, epoching and QC, Welch log band power, logistic regression, grouped cross-validation); .mat loading as in the course lecture on motor-imagery decoding with CSP and LDA. All numbers are deterministic (fixed seeds) and reproducible from our notebook.</a:t>
            </a:r>
          </a:p>
          <a:p>
            <a:r>
              <a:rPr lang="en-US"/>
              <a:t/>
            </a:r>
          </a:p>
          <a:p>
            <a:r>
              <a:rPr lang="en-US"/>
              <a:t>Likely questions: Why AUC as primary? It is threshold-free, so it isolates class separation from offset shifts. Why matched training size? Otherwise the larger training set wins regardless of drift. Why only 3 channels? That is what the dataset provides.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a:ln cap="sq">
            <a:noFill/>
            <a:prstDash val="solid"/>
            <a:miter/>
          </a:ln>
        </p:spPr>
      </p:sp>
      <p:grpSp>
        <p:nvGrpSpPr>
          <p:cNvPr name="Group 3" id="3"/>
          <p:cNvGrpSpPr/>
          <p:nvPr/>
        </p:nvGrpSpPr>
        <p:grpSpPr>
          <a:xfrm rot="0">
            <a:off x="0" y="0"/>
            <a:ext cx="11906250" cy="10287000"/>
            <a:chOff x="0" y="0"/>
            <a:chExt cx="15875000" cy="13716000"/>
          </a:xfrm>
        </p:grpSpPr>
        <p:sp>
          <p:nvSpPr>
            <p:cNvPr name="Freeform 4" id="4"/>
            <p:cNvSpPr/>
            <p:nvPr/>
          </p:nvSpPr>
          <p:spPr>
            <a:xfrm flipH="false" flipV="false" rot="0">
              <a:off x="0" y="0"/>
              <a:ext cx="15875000" cy="13716000"/>
            </a:xfrm>
            <a:custGeom>
              <a:avLst/>
              <a:gdLst/>
              <a:ahLst/>
              <a:cxnLst/>
              <a:rect r="r" b="b" t="t" l="l"/>
              <a:pathLst>
                <a:path h="13716000" w="15875000">
                  <a:moveTo>
                    <a:pt x="0" y="0"/>
                  </a:moveTo>
                  <a:lnTo>
                    <a:pt x="15875000" y="0"/>
                  </a:lnTo>
                  <a:lnTo>
                    <a:pt x="15875000" y="13716000"/>
                  </a:lnTo>
                  <a:lnTo>
                    <a:pt x="0" y="13716000"/>
                  </a:lnTo>
                  <a:close/>
                </a:path>
              </a:pathLst>
            </a:custGeom>
            <a:gradFill rotWithShape="true">
              <a:gsLst>
                <a:gs pos="0">
                  <a:srgbClr val="0B1F3A">
                    <a:alpha val="94080"/>
                  </a:srgbClr>
                </a:gs>
                <a:gs pos="100000">
                  <a:srgbClr val="0B1F3A">
                    <a:alpha val="17280"/>
                  </a:srgbClr>
                </a:gs>
              </a:gsLst>
              <a:lin ang="16200000"/>
            </a:gradFill>
            <a:ln cap="sq">
              <a:noFill/>
              <a:prstDash val="solid"/>
              <a:miter/>
            </a:ln>
          </p:spPr>
        </p:sp>
        <p:sp>
          <p:nvSpPr>
            <p:cNvPr name="TextBox 5" id="5"/>
            <p:cNvSpPr txBox="true"/>
            <p:nvPr/>
          </p:nvSpPr>
          <p:spPr>
            <a:xfrm>
              <a:off x="0" y="-38100"/>
              <a:ext cx="15875000" cy="137541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1714500"/>
            <a:ext cx="10477500" cy="1501902"/>
          </a:xfrm>
          <a:prstGeom prst="rect">
            <a:avLst/>
          </a:prstGeom>
        </p:spPr>
        <p:txBody>
          <a:bodyPr anchor="t" rtlCol="false" tIns="0" lIns="0" bIns="0" rIns="0">
            <a:spAutoFit/>
          </a:bodyPr>
          <a:lstStyle/>
          <a:p>
            <a:pPr algn="l">
              <a:lnSpc>
                <a:spcPts val="5814"/>
              </a:lnSpc>
            </a:pPr>
            <a:r>
              <a:rPr lang="en-US" sz="5700" b="true">
                <a:solidFill>
                  <a:srgbClr val="FFFFFF"/>
                </a:solidFill>
                <a:latin typeface="League Spartan"/>
                <a:ea typeface="League Spartan"/>
                <a:cs typeface="League Spartan"/>
                <a:sym typeface="League Spartan"/>
              </a:rPr>
              <a:t>Session-to-session drift</a:t>
            </a:r>
          </a:p>
          <a:p>
            <a:pPr algn="l">
              <a:lnSpc>
                <a:spcPts val="5814"/>
              </a:lnSpc>
            </a:pPr>
            <a:r>
              <a:rPr lang="en-US" sz="5700" b="true">
                <a:solidFill>
                  <a:srgbClr val="FFFFFF"/>
                </a:solidFill>
                <a:latin typeface="League Spartan"/>
                <a:ea typeface="League Spartan"/>
                <a:cs typeface="League Spartan"/>
                <a:sym typeface="League Spartan"/>
              </a:rPr>
              <a:t>in motor-imagery decoding</a:t>
            </a:r>
          </a:p>
        </p:txBody>
      </p:sp>
      <p:sp>
        <p:nvSpPr>
          <p:cNvPr name="TextBox 7" id="7"/>
          <p:cNvSpPr txBox="true"/>
          <p:nvPr/>
        </p:nvSpPr>
        <p:spPr>
          <a:xfrm rot="0">
            <a:off x="1047750" y="3570370"/>
            <a:ext cx="9334500" cy="730091"/>
          </a:xfrm>
          <a:prstGeom prst="rect">
            <a:avLst/>
          </a:prstGeom>
        </p:spPr>
        <p:txBody>
          <a:bodyPr anchor="t" rtlCol="false" tIns="0" lIns="0" bIns="0" rIns="0">
            <a:spAutoFit/>
          </a:bodyPr>
          <a:lstStyle/>
          <a:p>
            <a:pPr algn="l">
              <a:lnSpc>
                <a:spcPts val="2936"/>
              </a:lnSpc>
            </a:pPr>
            <a:r>
              <a:rPr lang="en-US" sz="2175">
                <a:solidFill>
                  <a:srgbClr val="FFFFFF"/>
                </a:solidFill>
                <a:latin typeface="Source Sans 3"/>
                <a:ea typeface="Source Sans 3"/>
                <a:cs typeface="Source Sans 3"/>
                <a:sym typeface="Source Sans 3"/>
              </a:rPr>
              <a:t>Does a BCI decoder trained on one day still work on the next?</a:t>
            </a:r>
          </a:p>
          <a:p>
            <a:pPr algn="l">
              <a:lnSpc>
                <a:spcPts val="2936"/>
              </a:lnSpc>
            </a:pPr>
            <a:r>
              <a:rPr lang="en-US" sz="2175">
                <a:solidFill>
                  <a:srgbClr val="FFFFFF"/>
                </a:solidFill>
                <a:latin typeface="Source Sans 3"/>
                <a:ea typeface="Source Sans 3"/>
                <a:cs typeface="Source Sans 3"/>
                <a:sym typeface="Source Sans 3"/>
              </a:rPr>
              <a:t>BNCI2014-004 · BCI Competition IV 2b · Graz</a:t>
            </a:r>
          </a:p>
        </p:txBody>
      </p:sp>
      <p:sp>
        <p:nvSpPr>
          <p:cNvPr name="TextBox 8" id="8"/>
          <p:cNvSpPr txBox="true"/>
          <p:nvPr/>
        </p:nvSpPr>
        <p:spPr>
          <a:xfrm rot="0">
            <a:off x="1047750" y="8267700"/>
            <a:ext cx="10001250" cy="549593"/>
          </a:xfrm>
          <a:prstGeom prst="rect">
            <a:avLst/>
          </a:prstGeom>
        </p:spPr>
        <p:txBody>
          <a:bodyPr anchor="t" rtlCol="false" tIns="0" lIns="0" bIns="0" rIns="0">
            <a:spAutoFit/>
          </a:bodyPr>
          <a:lstStyle/>
          <a:p>
            <a:pPr algn="l">
              <a:lnSpc>
                <a:spcPts val="2242"/>
              </a:lnSpc>
            </a:pPr>
            <a:r>
              <a:rPr lang="en-US" sz="1725" b="true">
                <a:solidFill>
                  <a:srgbClr val="FFFFFF"/>
                </a:solidFill>
                <a:latin typeface="Source Sans 3 Bold"/>
                <a:ea typeface="Source Sans 3 Bold"/>
                <a:cs typeface="Source Sans 3 Bold"/>
                <a:sym typeface="Source Sans 3 Bold"/>
              </a:rPr>
              <a:t>ROBT613 MIDTERM PROJECT</a:t>
            </a:r>
          </a:p>
          <a:p>
            <a:pPr algn="l">
              <a:lnSpc>
                <a:spcPts val="2242"/>
              </a:lnSpc>
            </a:pPr>
            <a:r>
              <a:rPr lang="en-US" sz="1725" b="true">
                <a:solidFill>
                  <a:srgbClr val="FFFFFF"/>
                </a:solidFill>
                <a:latin typeface="Source Sans 3 Bold"/>
                <a:ea typeface="Source Sans 3 Bold"/>
                <a:cs typeface="Source Sans 3 Bold"/>
                <a:sym typeface="Source Sans 3 Bold"/>
              </a:rPr>
              <a:t>Sultanbek · Aruzhan · Daniela · Aidarkhan</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47750" y="714375"/>
            <a:ext cx="14287500" cy="641032"/>
          </a:xfrm>
          <a:prstGeom prst="rect">
            <a:avLst/>
          </a:prstGeom>
        </p:spPr>
        <p:txBody>
          <a:bodyPr anchor="t" rtlCol="false" tIns="0" lIns="0" bIns="0" rIns="0">
            <a:spAutoFit/>
          </a:bodyPr>
          <a:lstStyle/>
          <a:p>
            <a:pPr algn="l">
              <a:lnSpc>
                <a:spcPts val="4882"/>
              </a:lnSpc>
            </a:pPr>
            <a:r>
              <a:rPr lang="en-US" sz="4650" b="true">
                <a:solidFill>
                  <a:srgbClr val="0B1F3A"/>
                </a:solidFill>
                <a:latin typeface="League Spartan"/>
                <a:ea typeface="League Spartan"/>
                <a:cs typeface="League Spartan"/>
                <a:sym typeface="League Spartan"/>
              </a:rPr>
              <a:t>A BCI is calibrated once — then used for days</a:t>
            </a:r>
          </a:p>
        </p:txBody>
      </p:sp>
      <p:grpSp>
        <p:nvGrpSpPr>
          <p:cNvPr name="Group 3" id="3"/>
          <p:cNvGrpSpPr/>
          <p:nvPr/>
        </p:nvGrpSpPr>
        <p:grpSpPr>
          <a:xfrm rot="0">
            <a:off x="1047750" y="1584008"/>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a:ln cap="sq">
              <a:noFill/>
              <a:prstDash val="solid"/>
              <a:miter/>
            </a:ln>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1238250" y="4000500"/>
            <a:ext cx="3143250" cy="1428750"/>
            <a:chOff x="0" y="0"/>
            <a:chExt cx="4191000" cy="1905000"/>
          </a:xfrm>
        </p:grpSpPr>
        <p:sp>
          <p:nvSpPr>
            <p:cNvPr name="Freeform 7" id="7"/>
            <p:cNvSpPr/>
            <p:nvPr/>
          </p:nvSpPr>
          <p:spPr>
            <a:xfrm flipH="false" flipV="false" rot="0">
              <a:off x="0" y="0"/>
              <a:ext cx="4191000" cy="1905000"/>
            </a:xfrm>
            <a:custGeom>
              <a:avLst/>
              <a:gdLst/>
              <a:ahLst/>
              <a:cxnLst/>
              <a:rect r="r" b="b" t="t" l="l"/>
              <a:pathLst>
                <a:path h="1905000" w="4191000">
                  <a:moveTo>
                    <a:pt x="69273" y="0"/>
                  </a:moveTo>
                  <a:lnTo>
                    <a:pt x="4121727" y="0"/>
                  </a:lnTo>
                  <a:cubicBezTo>
                    <a:pt x="4140100" y="0"/>
                    <a:pt x="4157719" y="7298"/>
                    <a:pt x="4170711" y="20290"/>
                  </a:cubicBezTo>
                  <a:cubicBezTo>
                    <a:pt x="4183702" y="33281"/>
                    <a:pt x="4191000" y="50900"/>
                    <a:pt x="4191000" y="69273"/>
                  </a:cubicBezTo>
                  <a:lnTo>
                    <a:pt x="4191000" y="1835727"/>
                  </a:lnTo>
                  <a:cubicBezTo>
                    <a:pt x="4191000" y="1854100"/>
                    <a:pt x="4183702" y="1871719"/>
                    <a:pt x="4170711" y="1884711"/>
                  </a:cubicBezTo>
                  <a:cubicBezTo>
                    <a:pt x="4157719" y="1897702"/>
                    <a:pt x="4140100" y="1905000"/>
                    <a:pt x="4121727" y="1905000"/>
                  </a:cubicBezTo>
                  <a:lnTo>
                    <a:pt x="69273" y="1905000"/>
                  </a:lnTo>
                  <a:cubicBezTo>
                    <a:pt x="50900" y="1905000"/>
                    <a:pt x="33281" y="1897702"/>
                    <a:pt x="20290" y="1884711"/>
                  </a:cubicBezTo>
                  <a:cubicBezTo>
                    <a:pt x="7298" y="1871719"/>
                    <a:pt x="0" y="1854100"/>
                    <a:pt x="0" y="1835727"/>
                  </a:cubicBezTo>
                  <a:lnTo>
                    <a:pt x="0" y="69273"/>
                  </a:lnTo>
                  <a:cubicBezTo>
                    <a:pt x="0" y="50900"/>
                    <a:pt x="7298" y="33281"/>
                    <a:pt x="20290" y="20290"/>
                  </a:cubicBezTo>
                  <a:cubicBezTo>
                    <a:pt x="33281" y="7298"/>
                    <a:pt x="50900" y="0"/>
                    <a:pt x="69273" y="0"/>
                  </a:cubicBezTo>
                  <a:close/>
                </a:path>
              </a:pathLst>
            </a:custGeom>
            <a:solidFill>
              <a:srgbClr val="0B1F3A"/>
            </a:solidFill>
            <a:ln cap="sq">
              <a:noFill/>
              <a:prstDash val="solid"/>
              <a:miter/>
            </a:ln>
          </p:spPr>
        </p:sp>
        <p:sp>
          <p:nvSpPr>
            <p:cNvPr name="TextBox 8" id="8"/>
            <p:cNvSpPr txBox="true"/>
            <p:nvPr/>
          </p:nvSpPr>
          <p:spPr>
            <a:xfrm>
              <a:off x="0" y="9525"/>
              <a:ext cx="4191000" cy="1895475"/>
            </a:xfrm>
            <a:prstGeom prst="rect">
              <a:avLst/>
            </a:prstGeom>
          </p:spPr>
          <p:txBody>
            <a:bodyPr anchor="ctr" rtlCol="false" tIns="50800" lIns="50800" bIns="50800" rIns="50800"/>
            <a:lstStyle/>
            <a:p>
              <a:pPr algn="ctr">
                <a:lnSpc>
                  <a:spcPts val="2070"/>
                </a:lnSpc>
              </a:pPr>
              <a:r>
                <a:rPr lang="en-US" sz="1800" b="true">
                  <a:solidFill>
                    <a:srgbClr val="FFFFFF"/>
                  </a:solidFill>
                  <a:latin typeface="Source Sans 3 Bold"/>
                  <a:ea typeface="Source Sans 3 Bold"/>
                  <a:cs typeface="Source Sans 3 Bold"/>
                  <a:sym typeface="Source Sans 3 Bold"/>
                </a:rPr>
                <a:t>CALIBRATE</a:t>
              </a:r>
            </a:p>
            <a:p>
              <a:pPr algn="ctr">
                <a:lnSpc>
                  <a:spcPts val="2070"/>
                </a:lnSpc>
              </a:pPr>
              <a:r>
                <a:rPr lang="en-US" sz="1800" b="true">
                  <a:solidFill>
                    <a:srgbClr val="FFFFFF"/>
                  </a:solidFill>
                  <a:latin typeface="Source Sans 3 Bold"/>
                  <a:ea typeface="Source Sans 3 Bold"/>
                  <a:cs typeface="Source Sans 3 Bold"/>
                  <a:sym typeface="Source Sans 3 Bold"/>
                </a:rPr>
                <a:t>Day 1</a:t>
              </a:r>
            </a:p>
          </p:txBody>
        </p:sp>
      </p:grpSp>
      <p:sp>
        <p:nvSpPr>
          <p:cNvPr name="AutoShape 9" id="9"/>
          <p:cNvSpPr/>
          <p:nvPr/>
        </p:nvSpPr>
        <p:spPr>
          <a:xfrm>
            <a:off x="4381500" y="4714875"/>
            <a:ext cx="3190875" cy="0"/>
          </a:xfrm>
          <a:prstGeom prst="line">
            <a:avLst/>
          </a:prstGeom>
          <a:ln cap="rnd" w="47625">
            <a:solidFill>
              <a:srgbClr val="EF6C2F"/>
            </a:solidFill>
            <a:prstDash val="solid"/>
            <a:headEnd type="none" len="sm" w="sm"/>
            <a:tailEnd type="none" len="sm" w="sm"/>
          </a:ln>
        </p:spPr>
      </p:sp>
      <p:grpSp>
        <p:nvGrpSpPr>
          <p:cNvPr name="Group 10" id="10"/>
          <p:cNvGrpSpPr/>
          <p:nvPr/>
        </p:nvGrpSpPr>
        <p:grpSpPr>
          <a:xfrm rot="0">
            <a:off x="7572375" y="4000500"/>
            <a:ext cx="3143250" cy="1428750"/>
            <a:chOff x="0" y="0"/>
            <a:chExt cx="4191000" cy="1905000"/>
          </a:xfrm>
        </p:grpSpPr>
        <p:sp>
          <p:nvSpPr>
            <p:cNvPr name="Freeform 11" id="11"/>
            <p:cNvSpPr/>
            <p:nvPr/>
          </p:nvSpPr>
          <p:spPr>
            <a:xfrm flipH="false" flipV="false" rot="0">
              <a:off x="0" y="0"/>
              <a:ext cx="4191000" cy="1905000"/>
            </a:xfrm>
            <a:custGeom>
              <a:avLst/>
              <a:gdLst/>
              <a:ahLst/>
              <a:cxnLst/>
              <a:rect r="r" b="b" t="t" l="l"/>
              <a:pathLst>
                <a:path h="1905000" w="4191000">
                  <a:moveTo>
                    <a:pt x="69273" y="0"/>
                  </a:moveTo>
                  <a:lnTo>
                    <a:pt x="4121727" y="0"/>
                  </a:lnTo>
                  <a:cubicBezTo>
                    <a:pt x="4140100" y="0"/>
                    <a:pt x="4157719" y="7298"/>
                    <a:pt x="4170711" y="20290"/>
                  </a:cubicBezTo>
                  <a:cubicBezTo>
                    <a:pt x="4183702" y="33281"/>
                    <a:pt x="4191000" y="50900"/>
                    <a:pt x="4191000" y="69273"/>
                  </a:cubicBezTo>
                  <a:lnTo>
                    <a:pt x="4191000" y="1835727"/>
                  </a:lnTo>
                  <a:cubicBezTo>
                    <a:pt x="4191000" y="1854100"/>
                    <a:pt x="4183702" y="1871719"/>
                    <a:pt x="4170711" y="1884711"/>
                  </a:cubicBezTo>
                  <a:cubicBezTo>
                    <a:pt x="4157719" y="1897702"/>
                    <a:pt x="4140100" y="1905000"/>
                    <a:pt x="4121727" y="1905000"/>
                  </a:cubicBezTo>
                  <a:lnTo>
                    <a:pt x="69273" y="1905000"/>
                  </a:lnTo>
                  <a:cubicBezTo>
                    <a:pt x="50900" y="1905000"/>
                    <a:pt x="33281" y="1897702"/>
                    <a:pt x="20290" y="1884711"/>
                  </a:cubicBezTo>
                  <a:cubicBezTo>
                    <a:pt x="7298" y="1871719"/>
                    <a:pt x="0" y="1854100"/>
                    <a:pt x="0" y="1835727"/>
                  </a:cubicBezTo>
                  <a:lnTo>
                    <a:pt x="0" y="69273"/>
                  </a:lnTo>
                  <a:cubicBezTo>
                    <a:pt x="0" y="50900"/>
                    <a:pt x="7298" y="33281"/>
                    <a:pt x="20290" y="20290"/>
                  </a:cubicBezTo>
                  <a:cubicBezTo>
                    <a:pt x="33281" y="7298"/>
                    <a:pt x="50900" y="0"/>
                    <a:pt x="69273" y="0"/>
                  </a:cubicBezTo>
                  <a:close/>
                </a:path>
              </a:pathLst>
            </a:custGeom>
            <a:solidFill>
              <a:srgbClr val="EEF3F7"/>
            </a:solidFill>
            <a:ln cap="sq">
              <a:noFill/>
              <a:prstDash val="solid"/>
              <a:miter/>
            </a:ln>
          </p:spPr>
        </p:sp>
        <p:sp>
          <p:nvSpPr>
            <p:cNvPr name="TextBox 12" id="12"/>
            <p:cNvSpPr txBox="true"/>
            <p:nvPr/>
          </p:nvSpPr>
          <p:spPr>
            <a:xfrm>
              <a:off x="0" y="9525"/>
              <a:ext cx="4191000" cy="1895475"/>
            </a:xfrm>
            <a:prstGeom prst="rect">
              <a:avLst/>
            </a:prstGeom>
          </p:spPr>
          <p:txBody>
            <a:bodyPr anchor="ctr" rtlCol="false" tIns="50800" lIns="50800" bIns="50800" rIns="50800"/>
            <a:lstStyle/>
            <a:p>
              <a:pPr algn="ctr">
                <a:lnSpc>
                  <a:spcPts val="2070"/>
                </a:lnSpc>
              </a:pPr>
              <a:r>
                <a:rPr lang="en-US" sz="1800" b="true">
                  <a:solidFill>
                    <a:srgbClr val="0B1F3A"/>
                  </a:solidFill>
                  <a:latin typeface="Source Sans 3 Bold"/>
                  <a:ea typeface="Source Sans 3 Bold"/>
                  <a:cs typeface="Source Sans 3 Bold"/>
                  <a:sym typeface="Source Sans 3 Bold"/>
                </a:rPr>
                <a:t>USE</a:t>
              </a:r>
            </a:p>
            <a:p>
              <a:pPr algn="ctr">
                <a:lnSpc>
                  <a:spcPts val="2070"/>
                </a:lnSpc>
              </a:pPr>
              <a:r>
                <a:rPr lang="en-US" sz="1800" b="true">
                  <a:solidFill>
                    <a:srgbClr val="0B1F3A"/>
                  </a:solidFill>
                  <a:latin typeface="Source Sans 3 Bold"/>
                  <a:ea typeface="Source Sans 3 Bold"/>
                  <a:cs typeface="Source Sans 3 Bold"/>
                  <a:sym typeface="Source Sans 3 Bold"/>
                </a:rPr>
                <a:t>Day 2</a:t>
              </a:r>
            </a:p>
          </p:txBody>
        </p:sp>
      </p:grpSp>
      <p:sp>
        <p:nvSpPr>
          <p:cNvPr name="AutoShape 13" id="13"/>
          <p:cNvSpPr/>
          <p:nvPr/>
        </p:nvSpPr>
        <p:spPr>
          <a:xfrm>
            <a:off x="10715625" y="4714875"/>
            <a:ext cx="3190875" cy="0"/>
          </a:xfrm>
          <a:prstGeom prst="line">
            <a:avLst/>
          </a:prstGeom>
          <a:ln cap="rnd" w="47625">
            <a:solidFill>
              <a:srgbClr val="EF6C2F"/>
            </a:solidFill>
            <a:prstDash val="solid"/>
            <a:headEnd type="none" len="sm" w="sm"/>
            <a:tailEnd type="none" len="sm" w="sm"/>
          </a:ln>
        </p:spPr>
      </p:sp>
      <p:grpSp>
        <p:nvGrpSpPr>
          <p:cNvPr name="Group 14" id="14"/>
          <p:cNvGrpSpPr/>
          <p:nvPr/>
        </p:nvGrpSpPr>
        <p:grpSpPr>
          <a:xfrm rot="0">
            <a:off x="13906500" y="4000500"/>
            <a:ext cx="3143250" cy="1428750"/>
            <a:chOff x="0" y="0"/>
            <a:chExt cx="4191000" cy="1905000"/>
          </a:xfrm>
        </p:grpSpPr>
        <p:sp>
          <p:nvSpPr>
            <p:cNvPr name="Freeform 15" id="15"/>
            <p:cNvSpPr/>
            <p:nvPr/>
          </p:nvSpPr>
          <p:spPr>
            <a:xfrm flipH="false" flipV="false" rot="0">
              <a:off x="0" y="0"/>
              <a:ext cx="4191000" cy="1905000"/>
            </a:xfrm>
            <a:custGeom>
              <a:avLst/>
              <a:gdLst/>
              <a:ahLst/>
              <a:cxnLst/>
              <a:rect r="r" b="b" t="t" l="l"/>
              <a:pathLst>
                <a:path h="1905000" w="4191000">
                  <a:moveTo>
                    <a:pt x="69273" y="0"/>
                  </a:moveTo>
                  <a:lnTo>
                    <a:pt x="4121727" y="0"/>
                  </a:lnTo>
                  <a:cubicBezTo>
                    <a:pt x="4140100" y="0"/>
                    <a:pt x="4157719" y="7298"/>
                    <a:pt x="4170711" y="20290"/>
                  </a:cubicBezTo>
                  <a:cubicBezTo>
                    <a:pt x="4183702" y="33281"/>
                    <a:pt x="4191000" y="50900"/>
                    <a:pt x="4191000" y="69273"/>
                  </a:cubicBezTo>
                  <a:lnTo>
                    <a:pt x="4191000" y="1835727"/>
                  </a:lnTo>
                  <a:cubicBezTo>
                    <a:pt x="4191000" y="1854100"/>
                    <a:pt x="4183702" y="1871719"/>
                    <a:pt x="4170711" y="1884711"/>
                  </a:cubicBezTo>
                  <a:cubicBezTo>
                    <a:pt x="4157719" y="1897702"/>
                    <a:pt x="4140100" y="1905000"/>
                    <a:pt x="4121727" y="1905000"/>
                  </a:cubicBezTo>
                  <a:lnTo>
                    <a:pt x="69273" y="1905000"/>
                  </a:lnTo>
                  <a:cubicBezTo>
                    <a:pt x="50900" y="1905000"/>
                    <a:pt x="33281" y="1897702"/>
                    <a:pt x="20290" y="1884711"/>
                  </a:cubicBezTo>
                  <a:cubicBezTo>
                    <a:pt x="7298" y="1871719"/>
                    <a:pt x="0" y="1854100"/>
                    <a:pt x="0" y="1835727"/>
                  </a:cubicBezTo>
                  <a:lnTo>
                    <a:pt x="0" y="69273"/>
                  </a:lnTo>
                  <a:cubicBezTo>
                    <a:pt x="0" y="50900"/>
                    <a:pt x="7298" y="33281"/>
                    <a:pt x="20290" y="20290"/>
                  </a:cubicBezTo>
                  <a:cubicBezTo>
                    <a:pt x="33281" y="7298"/>
                    <a:pt x="50900" y="0"/>
                    <a:pt x="69273" y="0"/>
                  </a:cubicBezTo>
                  <a:close/>
                </a:path>
              </a:pathLst>
            </a:custGeom>
            <a:solidFill>
              <a:srgbClr val="EEF3F7"/>
            </a:solidFill>
            <a:ln cap="sq">
              <a:noFill/>
              <a:prstDash val="solid"/>
              <a:miter/>
            </a:ln>
          </p:spPr>
        </p:sp>
        <p:sp>
          <p:nvSpPr>
            <p:cNvPr name="TextBox 16" id="16"/>
            <p:cNvSpPr txBox="true"/>
            <p:nvPr/>
          </p:nvSpPr>
          <p:spPr>
            <a:xfrm>
              <a:off x="0" y="9525"/>
              <a:ext cx="4191000" cy="1895475"/>
            </a:xfrm>
            <a:prstGeom prst="rect">
              <a:avLst/>
            </a:prstGeom>
          </p:spPr>
          <p:txBody>
            <a:bodyPr anchor="ctr" rtlCol="false" tIns="50800" lIns="50800" bIns="50800" rIns="50800"/>
            <a:lstStyle/>
            <a:p>
              <a:pPr algn="ctr">
                <a:lnSpc>
                  <a:spcPts val="2070"/>
                </a:lnSpc>
              </a:pPr>
              <a:r>
                <a:rPr lang="en-US" sz="1800" b="true">
                  <a:solidFill>
                    <a:srgbClr val="0B1F3A"/>
                  </a:solidFill>
                  <a:latin typeface="Source Sans 3 Bold"/>
                  <a:ea typeface="Source Sans 3 Bold"/>
                  <a:cs typeface="Source Sans 3 Bold"/>
                  <a:sym typeface="Source Sans 3 Bold"/>
                </a:rPr>
                <a:t>USE</a:t>
              </a:r>
            </a:p>
            <a:p>
              <a:pPr algn="ctr">
                <a:lnSpc>
                  <a:spcPts val="2070"/>
                </a:lnSpc>
              </a:pPr>
              <a:r>
                <a:rPr lang="en-US" sz="1800" b="true">
                  <a:solidFill>
                    <a:srgbClr val="0B1F3A"/>
                  </a:solidFill>
                  <a:latin typeface="Source Sans 3 Bold"/>
                  <a:ea typeface="Source Sans 3 Bold"/>
                  <a:cs typeface="Source Sans 3 Bold"/>
                  <a:sym typeface="Source Sans 3 Bold"/>
                </a:rPr>
                <a:t>Day 3</a:t>
              </a:r>
            </a:p>
          </p:txBody>
        </p:sp>
      </p:grpSp>
      <p:sp>
        <p:nvSpPr>
          <p:cNvPr name="TextBox 17" id="17"/>
          <p:cNvSpPr txBox="true"/>
          <p:nvPr/>
        </p:nvSpPr>
        <p:spPr>
          <a:xfrm rot="0">
            <a:off x="2857500" y="6534150"/>
            <a:ext cx="12573000" cy="1441132"/>
          </a:xfrm>
          <a:prstGeom prst="rect">
            <a:avLst/>
          </a:prstGeom>
        </p:spPr>
        <p:txBody>
          <a:bodyPr anchor="t" rtlCol="false" tIns="0" lIns="0" bIns="0" rIns="0">
            <a:spAutoFit/>
          </a:bodyPr>
          <a:lstStyle/>
          <a:p>
            <a:pPr algn="ctr" marL="0" indent="0" lvl="0">
              <a:lnSpc>
                <a:spcPts val="3847"/>
              </a:lnSpc>
              <a:spcBef>
                <a:spcPct val="0"/>
              </a:spcBef>
            </a:pPr>
            <a:r>
              <a:rPr lang="en-US" sz="2850" strike="noStrike" u="none">
                <a:solidFill>
                  <a:srgbClr val="0B1F3A"/>
                </a:solidFill>
                <a:latin typeface="Source Sans 3"/>
                <a:ea typeface="Source Sans 3"/>
                <a:cs typeface="Source Sans 3"/>
                <a:sym typeface="Source Sans 3"/>
              </a:rPr>
              <a:t>Between days electrodes sit differently, impedance and fatigue change, people learn. If the EEG features move, a decoder from an earlier day should do worse than one trained on the same day.</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47750" y="714375"/>
            <a:ext cx="14287500" cy="641032"/>
          </a:xfrm>
          <a:prstGeom prst="rect">
            <a:avLst/>
          </a:prstGeom>
        </p:spPr>
        <p:txBody>
          <a:bodyPr anchor="t" rtlCol="false" tIns="0" lIns="0" bIns="0" rIns="0">
            <a:spAutoFit/>
          </a:bodyPr>
          <a:lstStyle/>
          <a:p>
            <a:pPr algn="l">
              <a:lnSpc>
                <a:spcPts val="4882"/>
              </a:lnSpc>
            </a:pPr>
            <a:r>
              <a:rPr lang="en-US" sz="4650" b="true">
                <a:solidFill>
                  <a:srgbClr val="0B1F3A"/>
                </a:solidFill>
                <a:latin typeface="League Spartan"/>
                <a:ea typeface="League Spartan"/>
                <a:cs typeface="League Spartan"/>
                <a:sym typeface="League Spartan"/>
              </a:rPr>
              <a:t>Hypotheses and decision rules</a:t>
            </a:r>
          </a:p>
        </p:txBody>
      </p:sp>
      <p:grpSp>
        <p:nvGrpSpPr>
          <p:cNvPr name="Group 3" id="3"/>
          <p:cNvGrpSpPr/>
          <p:nvPr/>
        </p:nvGrpSpPr>
        <p:grpSpPr>
          <a:xfrm rot="0">
            <a:off x="1047750" y="1584008"/>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a:ln cap="sq">
              <a:noFill/>
              <a:prstDash val="solid"/>
              <a:miter/>
            </a:ln>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1793558"/>
            <a:ext cx="14287500" cy="273367"/>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5F6F7F"/>
                </a:solidFill>
                <a:latin typeface="Source Sans 3"/>
                <a:ea typeface="Source Sans 3"/>
                <a:cs typeface="Source Sans 3"/>
                <a:sym typeface="Source Sans 3"/>
              </a:rPr>
              <a:t>Fixed in advance · drift cost = within-session AUC − cross-session AUC · one-sided Wilcoxon · n = 9 · α = 0.05</a:t>
            </a:r>
          </a:p>
        </p:txBody>
      </p:sp>
      <p:grpSp>
        <p:nvGrpSpPr>
          <p:cNvPr name="Group 7" id="7"/>
          <p:cNvGrpSpPr/>
          <p:nvPr/>
        </p:nvGrpSpPr>
        <p:grpSpPr>
          <a:xfrm rot="0">
            <a:off x="1238250" y="3333750"/>
            <a:ext cx="4762500" cy="5124450"/>
            <a:chOff x="0" y="0"/>
            <a:chExt cx="6350000" cy="6832600"/>
          </a:xfrm>
        </p:grpSpPr>
        <p:grpSp>
          <p:nvGrpSpPr>
            <p:cNvPr name="Group 8" id="8"/>
            <p:cNvGrpSpPr/>
            <p:nvPr/>
          </p:nvGrpSpPr>
          <p:grpSpPr>
            <a:xfrm rot="0">
              <a:off x="0" y="0"/>
              <a:ext cx="6350000" cy="6832600"/>
              <a:chOff x="0" y="0"/>
              <a:chExt cx="6350000" cy="6832600"/>
            </a:xfrm>
          </p:grpSpPr>
          <p:sp>
            <p:nvSpPr>
              <p:cNvPr name="Freeform 9" id="9"/>
              <p:cNvSpPr/>
              <p:nvPr/>
            </p:nvSpPr>
            <p:spPr>
              <a:xfrm flipH="false" flipV="false" rot="0">
                <a:off x="0" y="0"/>
                <a:ext cx="6350000" cy="6832600"/>
              </a:xfrm>
              <a:custGeom>
                <a:avLst/>
                <a:gdLst/>
                <a:ahLst/>
                <a:cxnLst/>
                <a:rect r="r" b="b" t="t" l="l"/>
                <a:pathLst>
                  <a:path h="6832600" w="6350000">
                    <a:moveTo>
                      <a:pt x="0" y="0"/>
                    </a:moveTo>
                    <a:lnTo>
                      <a:pt x="6350000" y="0"/>
                    </a:lnTo>
                    <a:lnTo>
                      <a:pt x="6350000" y="6832600"/>
                    </a:lnTo>
                    <a:lnTo>
                      <a:pt x="0" y="6832600"/>
                    </a:lnTo>
                    <a:close/>
                  </a:path>
                </a:pathLst>
              </a:custGeom>
              <a:solidFill>
                <a:srgbClr val="0B1F3A"/>
              </a:solidFill>
              <a:ln cap="sq">
                <a:noFill/>
                <a:prstDash val="solid"/>
                <a:miter/>
              </a:ln>
            </p:spPr>
          </p:sp>
          <p:sp>
            <p:nvSpPr>
              <p:cNvPr name="TextBox 10" id="10"/>
              <p:cNvSpPr txBox="true"/>
              <p:nvPr/>
            </p:nvSpPr>
            <p:spPr>
              <a:xfrm>
                <a:off x="0" y="-38100"/>
                <a:ext cx="6350000" cy="687070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482600" y="631825"/>
              <a:ext cx="5334000" cy="968375"/>
            </a:xfrm>
            <a:prstGeom prst="rect">
              <a:avLst/>
            </a:prstGeom>
          </p:spPr>
          <p:txBody>
            <a:bodyPr anchor="t" rtlCol="false" tIns="0" lIns="0" bIns="0" rIns="0">
              <a:spAutoFit/>
            </a:bodyPr>
            <a:lstStyle/>
            <a:p>
              <a:pPr algn="l" marL="0" indent="0" lvl="0">
                <a:lnSpc>
                  <a:spcPts val="5130"/>
                </a:lnSpc>
                <a:spcBef>
                  <a:spcPct val="0"/>
                </a:spcBef>
              </a:pPr>
              <a:r>
                <a:rPr lang="en-US" b="true" sz="5400" strike="noStrike" u="none">
                  <a:solidFill>
                    <a:srgbClr val="EF6C2F"/>
                  </a:solidFill>
                  <a:latin typeface="League Spartan"/>
                  <a:ea typeface="League Spartan"/>
                  <a:cs typeface="League Spartan"/>
                  <a:sym typeface="League Spartan"/>
                </a:rPr>
                <a:t>H1a</a:t>
              </a:r>
            </a:p>
          </p:txBody>
        </p:sp>
        <p:sp>
          <p:nvSpPr>
            <p:cNvPr name="TextBox 12" id="12"/>
            <p:cNvSpPr txBox="true"/>
            <p:nvPr/>
          </p:nvSpPr>
          <p:spPr>
            <a:xfrm rot="0">
              <a:off x="482600" y="1930400"/>
              <a:ext cx="5334000" cy="534035"/>
            </a:xfrm>
            <a:prstGeom prst="rect">
              <a:avLst/>
            </a:prstGeom>
          </p:spPr>
          <p:txBody>
            <a:bodyPr anchor="t" rtlCol="false" tIns="0" lIns="0" bIns="0" rIns="0">
              <a:spAutoFit/>
            </a:bodyPr>
            <a:lstStyle/>
            <a:p>
              <a:pPr algn="l" marL="0" indent="0" lvl="0">
                <a:lnSpc>
                  <a:spcPts val="3341"/>
                </a:lnSpc>
                <a:spcBef>
                  <a:spcPct val="0"/>
                </a:spcBef>
              </a:pPr>
              <a:r>
                <a:rPr lang="en-US" b="true" sz="2475" strike="noStrike" u="none">
                  <a:solidFill>
                    <a:srgbClr val="FFFFFF"/>
                  </a:solidFill>
                  <a:latin typeface="Source Sans 3 Bold"/>
                  <a:ea typeface="Source Sans 3 Bold"/>
                  <a:cs typeface="Source Sans 3 Bold"/>
                  <a:sym typeface="Source Sans 3 Bold"/>
                </a:rPr>
                <a:t>AUC drops on day 2</a:t>
              </a:r>
            </a:p>
          </p:txBody>
        </p:sp>
        <p:sp>
          <p:nvSpPr>
            <p:cNvPr name="TextBox 13" id="13"/>
            <p:cNvSpPr txBox="true"/>
            <p:nvPr/>
          </p:nvSpPr>
          <p:spPr>
            <a:xfrm rot="0">
              <a:off x="482600" y="3790950"/>
              <a:ext cx="5334000" cy="1463040"/>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FFFFFF"/>
                  </a:solidFill>
                  <a:latin typeface="Source Sans 3"/>
                  <a:ea typeface="Source Sans 3"/>
                  <a:cs typeface="Source Sans 3"/>
                  <a:sym typeface="Source Sans 3"/>
                </a:rPr>
                <a:t>Primary. Train on S1, score S2 (both screening). Cross-session AUC lower than within-session CV on S2, same number of training trials.</a:t>
              </a:r>
            </a:p>
          </p:txBody>
        </p:sp>
      </p:grpSp>
      <p:grpSp>
        <p:nvGrpSpPr>
          <p:cNvPr name="Group 14" id="14"/>
          <p:cNvGrpSpPr/>
          <p:nvPr/>
        </p:nvGrpSpPr>
        <p:grpSpPr>
          <a:xfrm rot="0">
            <a:off x="6477000" y="3333750"/>
            <a:ext cx="4762500" cy="5124450"/>
            <a:chOff x="0" y="0"/>
            <a:chExt cx="6350000" cy="6832600"/>
          </a:xfrm>
        </p:grpSpPr>
        <p:grpSp>
          <p:nvGrpSpPr>
            <p:cNvPr name="Group 15" id="15"/>
            <p:cNvGrpSpPr/>
            <p:nvPr/>
          </p:nvGrpSpPr>
          <p:grpSpPr>
            <a:xfrm rot="0">
              <a:off x="0" y="0"/>
              <a:ext cx="6350000" cy="6832600"/>
              <a:chOff x="0" y="0"/>
              <a:chExt cx="6350000" cy="6832600"/>
            </a:xfrm>
          </p:grpSpPr>
          <p:sp>
            <p:nvSpPr>
              <p:cNvPr name="Freeform 16" id="16"/>
              <p:cNvSpPr/>
              <p:nvPr/>
            </p:nvSpPr>
            <p:spPr>
              <a:xfrm flipH="false" flipV="false" rot="0">
                <a:off x="0" y="0"/>
                <a:ext cx="6350000" cy="6832600"/>
              </a:xfrm>
              <a:custGeom>
                <a:avLst/>
                <a:gdLst/>
                <a:ahLst/>
                <a:cxnLst/>
                <a:rect r="r" b="b" t="t" l="l"/>
                <a:pathLst>
                  <a:path h="6832600" w="6350000">
                    <a:moveTo>
                      <a:pt x="0" y="0"/>
                    </a:moveTo>
                    <a:lnTo>
                      <a:pt x="6350000" y="0"/>
                    </a:lnTo>
                    <a:lnTo>
                      <a:pt x="6350000" y="6832600"/>
                    </a:lnTo>
                    <a:lnTo>
                      <a:pt x="0" y="6832600"/>
                    </a:lnTo>
                    <a:close/>
                  </a:path>
                </a:pathLst>
              </a:custGeom>
              <a:solidFill>
                <a:srgbClr val="EEF3F7"/>
              </a:solidFill>
              <a:ln cap="sq">
                <a:noFill/>
                <a:prstDash val="solid"/>
                <a:miter/>
              </a:ln>
            </p:spPr>
          </p:sp>
          <p:sp>
            <p:nvSpPr>
              <p:cNvPr name="TextBox 17" id="17"/>
              <p:cNvSpPr txBox="true"/>
              <p:nvPr/>
            </p:nvSpPr>
            <p:spPr>
              <a:xfrm>
                <a:off x="0" y="-38100"/>
                <a:ext cx="6350000" cy="68707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482600" y="631825"/>
              <a:ext cx="5334000" cy="968375"/>
            </a:xfrm>
            <a:prstGeom prst="rect">
              <a:avLst/>
            </a:prstGeom>
          </p:spPr>
          <p:txBody>
            <a:bodyPr anchor="t" rtlCol="false" tIns="0" lIns="0" bIns="0" rIns="0">
              <a:spAutoFit/>
            </a:bodyPr>
            <a:lstStyle/>
            <a:p>
              <a:pPr algn="l" marL="0" indent="0" lvl="0">
                <a:lnSpc>
                  <a:spcPts val="5130"/>
                </a:lnSpc>
                <a:spcBef>
                  <a:spcPct val="0"/>
                </a:spcBef>
              </a:pPr>
              <a:r>
                <a:rPr lang="en-US" b="true" sz="5400" strike="noStrike" u="none">
                  <a:solidFill>
                    <a:srgbClr val="EF6C2F"/>
                  </a:solidFill>
                  <a:latin typeface="League Spartan"/>
                  <a:ea typeface="League Spartan"/>
                  <a:cs typeface="League Spartan"/>
                  <a:sym typeface="League Spartan"/>
                </a:rPr>
                <a:t>H1b</a:t>
              </a:r>
            </a:p>
          </p:txBody>
        </p:sp>
        <p:sp>
          <p:nvSpPr>
            <p:cNvPr name="TextBox 19" id="19"/>
            <p:cNvSpPr txBox="true"/>
            <p:nvPr/>
          </p:nvSpPr>
          <p:spPr>
            <a:xfrm rot="0">
              <a:off x="482600" y="1930400"/>
              <a:ext cx="5334000" cy="534035"/>
            </a:xfrm>
            <a:prstGeom prst="rect">
              <a:avLst/>
            </a:prstGeom>
          </p:spPr>
          <p:txBody>
            <a:bodyPr anchor="t" rtlCol="false" tIns="0" lIns="0" bIns="0" rIns="0">
              <a:spAutoFit/>
            </a:bodyPr>
            <a:lstStyle/>
            <a:p>
              <a:pPr algn="l" marL="0" indent="0" lvl="0">
                <a:lnSpc>
                  <a:spcPts val="3341"/>
                </a:lnSpc>
                <a:spcBef>
                  <a:spcPct val="0"/>
                </a:spcBef>
              </a:pPr>
              <a:r>
                <a:rPr lang="en-US" b="true" sz="2475" strike="noStrike" u="none">
                  <a:solidFill>
                    <a:srgbClr val="0B1F3A"/>
                  </a:solidFill>
                  <a:latin typeface="Source Sans 3 Bold"/>
                  <a:ea typeface="Source Sans 3 Bold"/>
                  <a:cs typeface="Source Sans 3 Bold"/>
                  <a:sym typeface="Source Sans 3 Bold"/>
                </a:rPr>
                <a:t>AUC drops with feedback</a:t>
              </a:r>
            </a:p>
          </p:txBody>
        </p:sp>
        <p:sp>
          <p:nvSpPr>
            <p:cNvPr name="TextBox 20" id="20"/>
            <p:cNvSpPr txBox="true"/>
            <p:nvPr/>
          </p:nvSpPr>
          <p:spPr>
            <a:xfrm rot="0">
              <a:off x="482600" y="3790950"/>
              <a:ext cx="5334000" cy="1094740"/>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5F6F7F"/>
                  </a:solidFill>
                  <a:latin typeface="Source Sans 3"/>
                  <a:ea typeface="Source Sans 3"/>
                  <a:cs typeface="Source Sans 3"/>
                  <a:sym typeface="Source Sans 3"/>
                </a:rPr>
                <a:t>Secondary, new. Same test inside the feedback paradigm: train on S3, score S4 and S5 (averaged).</a:t>
              </a:r>
            </a:p>
          </p:txBody>
        </p:sp>
      </p:grpSp>
      <p:grpSp>
        <p:nvGrpSpPr>
          <p:cNvPr name="Group 21" id="21"/>
          <p:cNvGrpSpPr/>
          <p:nvPr/>
        </p:nvGrpSpPr>
        <p:grpSpPr>
          <a:xfrm rot="0">
            <a:off x="11715750" y="3333750"/>
            <a:ext cx="4762500" cy="5124450"/>
            <a:chOff x="0" y="0"/>
            <a:chExt cx="6350000" cy="6832600"/>
          </a:xfrm>
        </p:grpSpPr>
        <p:grpSp>
          <p:nvGrpSpPr>
            <p:cNvPr name="Group 22" id="22"/>
            <p:cNvGrpSpPr/>
            <p:nvPr/>
          </p:nvGrpSpPr>
          <p:grpSpPr>
            <a:xfrm rot="0">
              <a:off x="0" y="0"/>
              <a:ext cx="6350000" cy="6832600"/>
              <a:chOff x="0" y="0"/>
              <a:chExt cx="6350000" cy="6832600"/>
            </a:xfrm>
          </p:grpSpPr>
          <p:sp>
            <p:nvSpPr>
              <p:cNvPr name="Freeform 23" id="23"/>
              <p:cNvSpPr/>
              <p:nvPr/>
            </p:nvSpPr>
            <p:spPr>
              <a:xfrm flipH="false" flipV="false" rot="0">
                <a:off x="0" y="0"/>
                <a:ext cx="6350000" cy="6832600"/>
              </a:xfrm>
              <a:custGeom>
                <a:avLst/>
                <a:gdLst/>
                <a:ahLst/>
                <a:cxnLst/>
                <a:rect r="r" b="b" t="t" l="l"/>
                <a:pathLst>
                  <a:path h="6832600" w="6350000">
                    <a:moveTo>
                      <a:pt x="0" y="0"/>
                    </a:moveTo>
                    <a:lnTo>
                      <a:pt x="6350000" y="0"/>
                    </a:lnTo>
                    <a:lnTo>
                      <a:pt x="6350000" y="6832600"/>
                    </a:lnTo>
                    <a:lnTo>
                      <a:pt x="0" y="6832600"/>
                    </a:lnTo>
                    <a:close/>
                  </a:path>
                </a:pathLst>
              </a:custGeom>
              <a:solidFill>
                <a:srgbClr val="EEF3F7"/>
              </a:solidFill>
              <a:ln cap="sq">
                <a:noFill/>
                <a:prstDash val="solid"/>
                <a:miter/>
              </a:ln>
            </p:spPr>
          </p:sp>
          <p:sp>
            <p:nvSpPr>
              <p:cNvPr name="TextBox 24" id="24"/>
              <p:cNvSpPr txBox="true"/>
              <p:nvPr/>
            </p:nvSpPr>
            <p:spPr>
              <a:xfrm>
                <a:off x="0" y="-38100"/>
                <a:ext cx="6350000" cy="68707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482600" y="631825"/>
              <a:ext cx="5334000" cy="968375"/>
            </a:xfrm>
            <a:prstGeom prst="rect">
              <a:avLst/>
            </a:prstGeom>
          </p:spPr>
          <p:txBody>
            <a:bodyPr anchor="t" rtlCol="false" tIns="0" lIns="0" bIns="0" rIns="0">
              <a:spAutoFit/>
            </a:bodyPr>
            <a:lstStyle/>
            <a:p>
              <a:pPr algn="l" marL="0" indent="0" lvl="0">
                <a:lnSpc>
                  <a:spcPts val="5130"/>
                </a:lnSpc>
                <a:spcBef>
                  <a:spcPct val="0"/>
                </a:spcBef>
              </a:pPr>
              <a:r>
                <a:rPr lang="en-US" b="true" sz="5400" strike="noStrike" u="none">
                  <a:solidFill>
                    <a:srgbClr val="EF6C2F"/>
                  </a:solidFill>
                  <a:latin typeface="League Spartan"/>
                  <a:ea typeface="League Spartan"/>
                  <a:cs typeface="League Spartan"/>
                  <a:sym typeface="League Spartan"/>
                </a:rPr>
                <a:t>H2</a:t>
              </a:r>
            </a:p>
          </p:txBody>
        </p:sp>
        <p:sp>
          <p:nvSpPr>
            <p:cNvPr name="TextBox 26" id="26"/>
            <p:cNvSpPr txBox="true"/>
            <p:nvPr/>
          </p:nvSpPr>
          <p:spPr>
            <a:xfrm rot="0">
              <a:off x="482600" y="1930400"/>
              <a:ext cx="5334000" cy="534035"/>
            </a:xfrm>
            <a:prstGeom prst="rect">
              <a:avLst/>
            </a:prstGeom>
          </p:spPr>
          <p:txBody>
            <a:bodyPr anchor="t" rtlCol="false" tIns="0" lIns="0" bIns="0" rIns="0">
              <a:spAutoFit/>
            </a:bodyPr>
            <a:lstStyle/>
            <a:p>
              <a:pPr algn="l" marL="0" indent="0" lvl="0">
                <a:lnSpc>
                  <a:spcPts val="3341"/>
                </a:lnSpc>
                <a:spcBef>
                  <a:spcPct val="0"/>
                </a:spcBef>
              </a:pPr>
              <a:r>
                <a:rPr lang="en-US" b="true" sz="2475" strike="noStrike" u="none">
                  <a:solidFill>
                    <a:srgbClr val="0B1F3A"/>
                  </a:solidFill>
                  <a:latin typeface="Source Sans 3 Bold"/>
                  <a:ea typeface="Source Sans 3 Bold"/>
                  <a:cs typeface="Source Sans 3 Bold"/>
                  <a:sym typeface="Source Sans 3 Bold"/>
                </a:rPr>
                <a:t>Label-free fixes help</a:t>
              </a:r>
            </a:p>
          </p:txBody>
        </p:sp>
        <p:sp>
          <p:nvSpPr>
            <p:cNvPr name="TextBox 27" id="27"/>
            <p:cNvSpPr txBox="true"/>
            <p:nvPr/>
          </p:nvSpPr>
          <p:spPr>
            <a:xfrm rot="0">
              <a:off x="482600" y="3790950"/>
              <a:ext cx="5334000" cy="1094740"/>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5F6F7F"/>
                  </a:solidFill>
                  <a:latin typeface="Source Sans 3"/>
                  <a:ea typeface="Source Sans 3"/>
                  <a:cs typeface="Source Sans 3"/>
                  <a:sym typeface="Source Sans 3"/>
                </a:rPr>
                <a:t>C: baseline-relative power. D: per-session z-scoring. Lower drift cost, Holm-corrected; cross-session AUC must not drop.</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47750" y="714375"/>
            <a:ext cx="14287500" cy="641032"/>
          </a:xfrm>
          <a:prstGeom prst="rect">
            <a:avLst/>
          </a:prstGeom>
        </p:spPr>
        <p:txBody>
          <a:bodyPr anchor="t" rtlCol="false" tIns="0" lIns="0" bIns="0" rIns="0">
            <a:spAutoFit/>
          </a:bodyPr>
          <a:lstStyle/>
          <a:p>
            <a:pPr algn="l">
              <a:lnSpc>
                <a:spcPts val="4882"/>
              </a:lnSpc>
            </a:pPr>
            <a:r>
              <a:rPr lang="en-US" sz="4650" b="true">
                <a:solidFill>
                  <a:srgbClr val="0B1F3A"/>
                </a:solidFill>
                <a:latin typeface="League Spartan"/>
                <a:ea typeface="League Spartan"/>
                <a:cs typeface="League Spartan"/>
                <a:sym typeface="League Spartan"/>
              </a:rPr>
              <a:t>Dataset: BNCI2014-004</a:t>
            </a:r>
          </a:p>
        </p:txBody>
      </p:sp>
      <p:grpSp>
        <p:nvGrpSpPr>
          <p:cNvPr name="Group 3" id="3"/>
          <p:cNvGrpSpPr/>
          <p:nvPr/>
        </p:nvGrpSpPr>
        <p:grpSpPr>
          <a:xfrm rot="0">
            <a:off x="1047750" y="1584008"/>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a:ln cap="sq">
              <a:noFill/>
              <a:prstDash val="solid"/>
              <a:miter/>
            </a:ln>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9620250" y="2762250"/>
            <a:ext cx="6667500" cy="781050"/>
            <a:chOff x="0" y="0"/>
            <a:chExt cx="8890000" cy="1041400"/>
          </a:xfrm>
        </p:grpSpPr>
        <p:sp>
          <p:nvSpPr>
            <p:cNvPr name="Freeform 7" id="7"/>
            <p:cNvSpPr/>
            <p:nvPr/>
          </p:nvSpPr>
          <p:spPr>
            <a:xfrm flipH="false" flipV="false" rot="0">
              <a:off x="0" y="0"/>
              <a:ext cx="8890000" cy="1041400"/>
            </a:xfrm>
            <a:custGeom>
              <a:avLst/>
              <a:gdLst/>
              <a:ahLst/>
              <a:cxnLst/>
              <a:rect r="r" b="b" t="t" l="l"/>
              <a:pathLst>
                <a:path h="1041400" w="8890000">
                  <a:moveTo>
                    <a:pt x="32657" y="0"/>
                  </a:moveTo>
                  <a:lnTo>
                    <a:pt x="8857343" y="0"/>
                  </a:lnTo>
                  <a:cubicBezTo>
                    <a:pt x="8866004" y="0"/>
                    <a:pt x="8874310" y="3441"/>
                    <a:pt x="8880435" y="9565"/>
                  </a:cubicBezTo>
                  <a:cubicBezTo>
                    <a:pt x="8886559" y="15689"/>
                    <a:pt x="8890000" y="23996"/>
                    <a:pt x="8890000" y="32657"/>
                  </a:cubicBezTo>
                  <a:lnTo>
                    <a:pt x="8890000" y="1008743"/>
                  </a:lnTo>
                  <a:cubicBezTo>
                    <a:pt x="8890000" y="1017404"/>
                    <a:pt x="8886559" y="1025711"/>
                    <a:pt x="8880435" y="1031835"/>
                  </a:cubicBezTo>
                  <a:cubicBezTo>
                    <a:pt x="8874310" y="1037959"/>
                    <a:pt x="8866004" y="1041400"/>
                    <a:pt x="8857343" y="1041400"/>
                  </a:cubicBezTo>
                  <a:lnTo>
                    <a:pt x="32657" y="1041400"/>
                  </a:lnTo>
                  <a:cubicBezTo>
                    <a:pt x="23996" y="1041400"/>
                    <a:pt x="15689" y="1037959"/>
                    <a:pt x="9565" y="1031835"/>
                  </a:cubicBezTo>
                  <a:cubicBezTo>
                    <a:pt x="3441" y="1025711"/>
                    <a:pt x="0" y="1017404"/>
                    <a:pt x="0" y="1008743"/>
                  </a:cubicBezTo>
                  <a:lnTo>
                    <a:pt x="0" y="32657"/>
                  </a:lnTo>
                  <a:cubicBezTo>
                    <a:pt x="0" y="23996"/>
                    <a:pt x="3441" y="15689"/>
                    <a:pt x="9565" y="9565"/>
                  </a:cubicBezTo>
                  <a:cubicBezTo>
                    <a:pt x="15689" y="3441"/>
                    <a:pt x="23996" y="0"/>
                    <a:pt x="32657" y="0"/>
                  </a:cubicBezTo>
                  <a:close/>
                </a:path>
              </a:pathLst>
            </a:custGeom>
            <a:solidFill>
              <a:srgbClr val="0B1F3A"/>
            </a:solidFill>
            <a:ln cap="sq">
              <a:noFill/>
              <a:prstDash val="solid"/>
              <a:miter/>
            </a:ln>
          </p:spPr>
        </p:sp>
        <p:sp>
          <p:nvSpPr>
            <p:cNvPr name="TextBox 8" id="8"/>
            <p:cNvSpPr txBox="true"/>
            <p:nvPr/>
          </p:nvSpPr>
          <p:spPr>
            <a:xfrm>
              <a:off x="0" y="9525"/>
              <a:ext cx="8890000" cy="10318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FFFFFF"/>
                  </a:solidFill>
                  <a:latin typeface="Source Sans 3 Bold"/>
                  <a:ea typeface="Source Sans 3 Bold"/>
                  <a:cs typeface="Source Sans 3 Bold"/>
                  <a:sym typeface="Source Sans 3 Bold"/>
                </a:rPr>
                <a:t>9 subjects · 5 sessions on different days</a:t>
              </a:r>
            </a:p>
          </p:txBody>
        </p:sp>
      </p:grpSp>
      <p:grpSp>
        <p:nvGrpSpPr>
          <p:cNvPr name="Group 9" id="9"/>
          <p:cNvGrpSpPr/>
          <p:nvPr/>
        </p:nvGrpSpPr>
        <p:grpSpPr>
          <a:xfrm rot="0">
            <a:off x="9620250" y="3905250"/>
            <a:ext cx="6667500" cy="781050"/>
            <a:chOff x="0" y="0"/>
            <a:chExt cx="8890000" cy="1041400"/>
          </a:xfrm>
        </p:grpSpPr>
        <p:sp>
          <p:nvSpPr>
            <p:cNvPr name="Freeform 10" id="10"/>
            <p:cNvSpPr/>
            <p:nvPr/>
          </p:nvSpPr>
          <p:spPr>
            <a:xfrm flipH="false" flipV="false" rot="0">
              <a:off x="0" y="0"/>
              <a:ext cx="8890000" cy="1041400"/>
            </a:xfrm>
            <a:custGeom>
              <a:avLst/>
              <a:gdLst/>
              <a:ahLst/>
              <a:cxnLst/>
              <a:rect r="r" b="b" t="t" l="l"/>
              <a:pathLst>
                <a:path h="1041400" w="8890000">
                  <a:moveTo>
                    <a:pt x="32657" y="0"/>
                  </a:moveTo>
                  <a:lnTo>
                    <a:pt x="8857343" y="0"/>
                  </a:lnTo>
                  <a:cubicBezTo>
                    <a:pt x="8866004" y="0"/>
                    <a:pt x="8874310" y="3441"/>
                    <a:pt x="8880435" y="9565"/>
                  </a:cubicBezTo>
                  <a:cubicBezTo>
                    <a:pt x="8886559" y="15689"/>
                    <a:pt x="8890000" y="23996"/>
                    <a:pt x="8890000" y="32657"/>
                  </a:cubicBezTo>
                  <a:lnTo>
                    <a:pt x="8890000" y="1008743"/>
                  </a:lnTo>
                  <a:cubicBezTo>
                    <a:pt x="8890000" y="1017404"/>
                    <a:pt x="8886559" y="1025711"/>
                    <a:pt x="8880435" y="1031835"/>
                  </a:cubicBezTo>
                  <a:cubicBezTo>
                    <a:pt x="8874310" y="1037959"/>
                    <a:pt x="8866004" y="1041400"/>
                    <a:pt x="8857343" y="1041400"/>
                  </a:cubicBezTo>
                  <a:lnTo>
                    <a:pt x="32657" y="1041400"/>
                  </a:lnTo>
                  <a:cubicBezTo>
                    <a:pt x="23996" y="1041400"/>
                    <a:pt x="15689" y="1037959"/>
                    <a:pt x="9565" y="1031835"/>
                  </a:cubicBezTo>
                  <a:cubicBezTo>
                    <a:pt x="3441" y="1025711"/>
                    <a:pt x="0" y="1017404"/>
                    <a:pt x="0" y="1008743"/>
                  </a:cubicBezTo>
                  <a:lnTo>
                    <a:pt x="0" y="32657"/>
                  </a:lnTo>
                  <a:cubicBezTo>
                    <a:pt x="0" y="23996"/>
                    <a:pt x="3441" y="15689"/>
                    <a:pt x="9565" y="9565"/>
                  </a:cubicBezTo>
                  <a:cubicBezTo>
                    <a:pt x="15689" y="3441"/>
                    <a:pt x="23996" y="0"/>
                    <a:pt x="32657" y="0"/>
                  </a:cubicBezTo>
                  <a:close/>
                </a:path>
              </a:pathLst>
            </a:custGeom>
            <a:solidFill>
              <a:srgbClr val="EEF3F7"/>
            </a:solidFill>
            <a:ln cap="sq">
              <a:noFill/>
              <a:prstDash val="solid"/>
              <a:miter/>
            </a:ln>
          </p:spPr>
        </p:sp>
        <p:sp>
          <p:nvSpPr>
            <p:cNvPr name="TextBox 11" id="11"/>
            <p:cNvSpPr txBox="true"/>
            <p:nvPr/>
          </p:nvSpPr>
          <p:spPr>
            <a:xfrm>
              <a:off x="0" y="9525"/>
              <a:ext cx="8890000" cy="10318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S1–S2 screening · S3–S5 smiley feedback</a:t>
              </a:r>
            </a:p>
          </p:txBody>
        </p:sp>
      </p:grpSp>
      <p:grpSp>
        <p:nvGrpSpPr>
          <p:cNvPr name="Group 12" id="12"/>
          <p:cNvGrpSpPr/>
          <p:nvPr/>
        </p:nvGrpSpPr>
        <p:grpSpPr>
          <a:xfrm rot="0">
            <a:off x="9620250" y="5048250"/>
            <a:ext cx="6667500" cy="781050"/>
            <a:chOff x="0" y="0"/>
            <a:chExt cx="8890000" cy="1041400"/>
          </a:xfrm>
        </p:grpSpPr>
        <p:sp>
          <p:nvSpPr>
            <p:cNvPr name="Freeform 13" id="13"/>
            <p:cNvSpPr/>
            <p:nvPr/>
          </p:nvSpPr>
          <p:spPr>
            <a:xfrm flipH="false" flipV="false" rot="0">
              <a:off x="0" y="0"/>
              <a:ext cx="8890000" cy="1041400"/>
            </a:xfrm>
            <a:custGeom>
              <a:avLst/>
              <a:gdLst/>
              <a:ahLst/>
              <a:cxnLst/>
              <a:rect r="r" b="b" t="t" l="l"/>
              <a:pathLst>
                <a:path h="1041400" w="8890000">
                  <a:moveTo>
                    <a:pt x="32657" y="0"/>
                  </a:moveTo>
                  <a:lnTo>
                    <a:pt x="8857343" y="0"/>
                  </a:lnTo>
                  <a:cubicBezTo>
                    <a:pt x="8866004" y="0"/>
                    <a:pt x="8874310" y="3441"/>
                    <a:pt x="8880435" y="9565"/>
                  </a:cubicBezTo>
                  <a:cubicBezTo>
                    <a:pt x="8886559" y="15689"/>
                    <a:pt x="8890000" y="23996"/>
                    <a:pt x="8890000" y="32657"/>
                  </a:cubicBezTo>
                  <a:lnTo>
                    <a:pt x="8890000" y="1008743"/>
                  </a:lnTo>
                  <a:cubicBezTo>
                    <a:pt x="8890000" y="1017404"/>
                    <a:pt x="8886559" y="1025711"/>
                    <a:pt x="8880435" y="1031835"/>
                  </a:cubicBezTo>
                  <a:cubicBezTo>
                    <a:pt x="8874310" y="1037959"/>
                    <a:pt x="8866004" y="1041400"/>
                    <a:pt x="8857343" y="1041400"/>
                  </a:cubicBezTo>
                  <a:lnTo>
                    <a:pt x="32657" y="1041400"/>
                  </a:lnTo>
                  <a:cubicBezTo>
                    <a:pt x="23996" y="1041400"/>
                    <a:pt x="15689" y="1037959"/>
                    <a:pt x="9565" y="1031835"/>
                  </a:cubicBezTo>
                  <a:cubicBezTo>
                    <a:pt x="3441" y="1025711"/>
                    <a:pt x="0" y="1017404"/>
                    <a:pt x="0" y="1008743"/>
                  </a:cubicBezTo>
                  <a:lnTo>
                    <a:pt x="0" y="32657"/>
                  </a:lnTo>
                  <a:cubicBezTo>
                    <a:pt x="0" y="23996"/>
                    <a:pt x="3441" y="15689"/>
                    <a:pt x="9565" y="9565"/>
                  </a:cubicBezTo>
                  <a:cubicBezTo>
                    <a:pt x="15689" y="3441"/>
                    <a:pt x="23996" y="0"/>
                    <a:pt x="32657" y="0"/>
                  </a:cubicBezTo>
                  <a:close/>
                </a:path>
              </a:pathLst>
            </a:custGeom>
            <a:solidFill>
              <a:srgbClr val="EEF3F7"/>
            </a:solidFill>
            <a:ln cap="sq">
              <a:noFill/>
              <a:prstDash val="solid"/>
              <a:miter/>
            </a:ln>
          </p:spPr>
        </p:sp>
        <p:sp>
          <p:nvSpPr>
            <p:cNvPr name="TextBox 14" id="14"/>
            <p:cNvSpPr txBox="true"/>
            <p:nvPr/>
          </p:nvSpPr>
          <p:spPr>
            <a:xfrm>
              <a:off x="0" y="9525"/>
              <a:ext cx="8890000" cy="10318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Left vs right hand motor imagery, balanced</a:t>
              </a:r>
            </a:p>
          </p:txBody>
        </p:sp>
      </p:grpSp>
      <p:grpSp>
        <p:nvGrpSpPr>
          <p:cNvPr name="Group 15" id="15"/>
          <p:cNvGrpSpPr/>
          <p:nvPr/>
        </p:nvGrpSpPr>
        <p:grpSpPr>
          <a:xfrm rot="0">
            <a:off x="9620250" y="6191250"/>
            <a:ext cx="6667500" cy="781050"/>
            <a:chOff x="0" y="0"/>
            <a:chExt cx="8890000" cy="1041400"/>
          </a:xfrm>
        </p:grpSpPr>
        <p:sp>
          <p:nvSpPr>
            <p:cNvPr name="Freeform 16" id="16"/>
            <p:cNvSpPr/>
            <p:nvPr/>
          </p:nvSpPr>
          <p:spPr>
            <a:xfrm flipH="false" flipV="false" rot="0">
              <a:off x="0" y="0"/>
              <a:ext cx="8890000" cy="1041400"/>
            </a:xfrm>
            <a:custGeom>
              <a:avLst/>
              <a:gdLst/>
              <a:ahLst/>
              <a:cxnLst/>
              <a:rect r="r" b="b" t="t" l="l"/>
              <a:pathLst>
                <a:path h="1041400" w="8890000">
                  <a:moveTo>
                    <a:pt x="32657" y="0"/>
                  </a:moveTo>
                  <a:lnTo>
                    <a:pt x="8857343" y="0"/>
                  </a:lnTo>
                  <a:cubicBezTo>
                    <a:pt x="8866004" y="0"/>
                    <a:pt x="8874310" y="3441"/>
                    <a:pt x="8880435" y="9565"/>
                  </a:cubicBezTo>
                  <a:cubicBezTo>
                    <a:pt x="8886559" y="15689"/>
                    <a:pt x="8890000" y="23996"/>
                    <a:pt x="8890000" y="32657"/>
                  </a:cubicBezTo>
                  <a:lnTo>
                    <a:pt x="8890000" y="1008743"/>
                  </a:lnTo>
                  <a:cubicBezTo>
                    <a:pt x="8890000" y="1017404"/>
                    <a:pt x="8886559" y="1025711"/>
                    <a:pt x="8880435" y="1031835"/>
                  </a:cubicBezTo>
                  <a:cubicBezTo>
                    <a:pt x="8874310" y="1037959"/>
                    <a:pt x="8866004" y="1041400"/>
                    <a:pt x="8857343" y="1041400"/>
                  </a:cubicBezTo>
                  <a:lnTo>
                    <a:pt x="32657" y="1041400"/>
                  </a:lnTo>
                  <a:cubicBezTo>
                    <a:pt x="23996" y="1041400"/>
                    <a:pt x="15689" y="1037959"/>
                    <a:pt x="9565" y="1031835"/>
                  </a:cubicBezTo>
                  <a:cubicBezTo>
                    <a:pt x="3441" y="1025711"/>
                    <a:pt x="0" y="1017404"/>
                    <a:pt x="0" y="1008743"/>
                  </a:cubicBezTo>
                  <a:lnTo>
                    <a:pt x="0" y="32657"/>
                  </a:lnTo>
                  <a:cubicBezTo>
                    <a:pt x="0" y="23996"/>
                    <a:pt x="3441" y="15689"/>
                    <a:pt x="9565" y="9565"/>
                  </a:cubicBezTo>
                  <a:cubicBezTo>
                    <a:pt x="15689" y="3441"/>
                    <a:pt x="23996" y="0"/>
                    <a:pt x="32657" y="0"/>
                  </a:cubicBezTo>
                  <a:close/>
                </a:path>
              </a:pathLst>
            </a:custGeom>
            <a:solidFill>
              <a:srgbClr val="EEF3F7"/>
            </a:solidFill>
            <a:ln cap="sq">
              <a:noFill/>
              <a:prstDash val="solid"/>
              <a:miter/>
            </a:ln>
          </p:spPr>
        </p:sp>
        <p:sp>
          <p:nvSpPr>
            <p:cNvPr name="TextBox 17" id="17"/>
            <p:cNvSpPr txBox="true"/>
            <p:nvPr/>
          </p:nvSpPr>
          <p:spPr>
            <a:xfrm>
              <a:off x="0" y="9525"/>
              <a:ext cx="8890000" cy="10318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3 bipolar EEG (C3, Cz, C4) + 3 EOG · 250 Hz</a:t>
              </a:r>
            </a:p>
          </p:txBody>
        </p:sp>
      </p:grpSp>
      <p:grpSp>
        <p:nvGrpSpPr>
          <p:cNvPr name="Group 18" id="18"/>
          <p:cNvGrpSpPr/>
          <p:nvPr/>
        </p:nvGrpSpPr>
        <p:grpSpPr>
          <a:xfrm rot="0">
            <a:off x="9620250" y="7334250"/>
            <a:ext cx="6667500" cy="781050"/>
            <a:chOff x="0" y="0"/>
            <a:chExt cx="8890000" cy="1041400"/>
          </a:xfrm>
        </p:grpSpPr>
        <p:sp>
          <p:nvSpPr>
            <p:cNvPr name="Freeform 19" id="19"/>
            <p:cNvSpPr/>
            <p:nvPr/>
          </p:nvSpPr>
          <p:spPr>
            <a:xfrm flipH="false" flipV="false" rot="0">
              <a:off x="0" y="0"/>
              <a:ext cx="8890000" cy="1041400"/>
            </a:xfrm>
            <a:custGeom>
              <a:avLst/>
              <a:gdLst/>
              <a:ahLst/>
              <a:cxnLst/>
              <a:rect r="r" b="b" t="t" l="l"/>
              <a:pathLst>
                <a:path h="1041400" w="8890000">
                  <a:moveTo>
                    <a:pt x="32657" y="0"/>
                  </a:moveTo>
                  <a:lnTo>
                    <a:pt x="8857343" y="0"/>
                  </a:lnTo>
                  <a:cubicBezTo>
                    <a:pt x="8866004" y="0"/>
                    <a:pt x="8874310" y="3441"/>
                    <a:pt x="8880435" y="9565"/>
                  </a:cubicBezTo>
                  <a:cubicBezTo>
                    <a:pt x="8886559" y="15689"/>
                    <a:pt x="8890000" y="23996"/>
                    <a:pt x="8890000" y="32657"/>
                  </a:cubicBezTo>
                  <a:lnTo>
                    <a:pt x="8890000" y="1008743"/>
                  </a:lnTo>
                  <a:cubicBezTo>
                    <a:pt x="8890000" y="1017404"/>
                    <a:pt x="8886559" y="1025711"/>
                    <a:pt x="8880435" y="1031835"/>
                  </a:cubicBezTo>
                  <a:cubicBezTo>
                    <a:pt x="8874310" y="1037959"/>
                    <a:pt x="8866004" y="1041400"/>
                    <a:pt x="8857343" y="1041400"/>
                  </a:cubicBezTo>
                  <a:lnTo>
                    <a:pt x="32657" y="1041400"/>
                  </a:lnTo>
                  <a:cubicBezTo>
                    <a:pt x="23996" y="1041400"/>
                    <a:pt x="15689" y="1037959"/>
                    <a:pt x="9565" y="1031835"/>
                  </a:cubicBezTo>
                  <a:cubicBezTo>
                    <a:pt x="3441" y="1025711"/>
                    <a:pt x="0" y="1017404"/>
                    <a:pt x="0" y="1008743"/>
                  </a:cubicBezTo>
                  <a:lnTo>
                    <a:pt x="0" y="32657"/>
                  </a:lnTo>
                  <a:cubicBezTo>
                    <a:pt x="0" y="23996"/>
                    <a:pt x="3441" y="15689"/>
                    <a:pt x="9565" y="9565"/>
                  </a:cubicBezTo>
                  <a:cubicBezTo>
                    <a:pt x="15689" y="3441"/>
                    <a:pt x="23996" y="0"/>
                    <a:pt x="32657" y="0"/>
                  </a:cubicBezTo>
                  <a:close/>
                </a:path>
              </a:pathLst>
            </a:custGeom>
            <a:solidFill>
              <a:srgbClr val="EEF3F7"/>
            </a:solidFill>
            <a:ln cap="sq">
              <a:noFill/>
              <a:prstDash val="solid"/>
              <a:miter/>
            </a:ln>
          </p:spPr>
        </p:sp>
        <p:sp>
          <p:nvSpPr>
            <p:cNvPr name="TextBox 20" id="20"/>
            <p:cNvSpPr txBox="true"/>
            <p:nvPr/>
          </p:nvSpPr>
          <p:spPr>
            <a:xfrm>
              <a:off x="0" y="9525"/>
              <a:ext cx="8890000" cy="10318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6,520 trials · 19.2% flagged by the authors</a:t>
              </a:r>
            </a:p>
          </p:txBody>
        </p:sp>
      </p:grpSp>
      <p:sp>
        <p:nvSpPr>
          <p:cNvPr name="TextBox 21" id="21"/>
          <p:cNvSpPr txBox="true"/>
          <p:nvPr/>
        </p:nvSpPr>
        <p:spPr>
          <a:xfrm rot="0">
            <a:off x="9620250" y="8553450"/>
            <a:ext cx="6667500" cy="825818"/>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5F6F7F"/>
                </a:solidFill>
                <a:latin typeface="Source Sans 3"/>
                <a:ea typeface="Source Sans 3"/>
                <a:cs typeface="Source Sans 3"/>
                <a:sym typeface="Source Sans 3"/>
              </a:rPr>
              <a:t>Read from the original .mat files: signal, onsets, labels, expert artifact flags. Each session starts with a ~3.6-min eye-movement calibration recording.</a:t>
            </a:r>
          </a:p>
        </p:txBody>
      </p:sp>
      <p:sp>
        <p:nvSpPr>
          <p:cNvPr name="Freeform 22" id="22" descr="Recording sites C3, Cz, C4 over the left and right hand motor cortex"/>
          <p:cNvSpPr/>
          <p:nvPr/>
        </p:nvSpPr>
        <p:spPr>
          <a:xfrm flipH="false" flipV="false" rot="0">
            <a:off x="857250" y="3810000"/>
            <a:ext cx="8191500" cy="3667125"/>
          </a:xfrm>
          <a:custGeom>
            <a:avLst/>
            <a:gdLst/>
            <a:ahLst/>
            <a:cxnLst/>
            <a:rect r="r" b="b" t="t" l="l"/>
            <a:pathLst>
              <a:path h="3667125" w="8191500">
                <a:moveTo>
                  <a:pt x="0" y="0"/>
                </a:moveTo>
                <a:lnTo>
                  <a:pt x="8191500" y="0"/>
                </a:lnTo>
                <a:lnTo>
                  <a:pt x="8191500" y="3667125"/>
                </a:lnTo>
                <a:lnTo>
                  <a:pt x="0" y="3667125"/>
                </a:lnTo>
                <a:lnTo>
                  <a:pt x="0" y="0"/>
                </a:lnTo>
                <a:close/>
              </a:path>
            </a:pathLst>
          </a:custGeom>
          <a:blipFill>
            <a:blip r:embed="rId3"/>
            <a:stretch>
              <a:fillRect l="-19" t="0" r="-19" b="0"/>
            </a:stretch>
          </a:blipFill>
        </p:spPr>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47750" y="714375"/>
            <a:ext cx="14287500" cy="641032"/>
          </a:xfrm>
          <a:prstGeom prst="rect">
            <a:avLst/>
          </a:prstGeom>
        </p:spPr>
        <p:txBody>
          <a:bodyPr anchor="t" rtlCol="false" tIns="0" lIns="0" bIns="0" rIns="0">
            <a:spAutoFit/>
          </a:bodyPr>
          <a:lstStyle/>
          <a:p>
            <a:pPr algn="l">
              <a:lnSpc>
                <a:spcPts val="4882"/>
              </a:lnSpc>
            </a:pPr>
            <a:r>
              <a:rPr lang="en-US" sz="4650" b="true">
                <a:solidFill>
                  <a:srgbClr val="0B1F3A"/>
                </a:solidFill>
                <a:latin typeface="League Spartan"/>
                <a:ea typeface="League Spartan"/>
                <a:cs typeface="League Spartan"/>
                <a:sym typeface="League Spartan"/>
              </a:rPr>
              <a:t>One preprocessing pipeline for every session</a:t>
            </a:r>
          </a:p>
        </p:txBody>
      </p:sp>
      <p:grpSp>
        <p:nvGrpSpPr>
          <p:cNvPr name="Group 3" id="3"/>
          <p:cNvGrpSpPr/>
          <p:nvPr/>
        </p:nvGrpSpPr>
        <p:grpSpPr>
          <a:xfrm rot="0">
            <a:off x="1047750" y="1584008"/>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a:ln cap="sq">
              <a:noFill/>
              <a:prstDash val="solid"/>
              <a:miter/>
            </a:ln>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1793558"/>
            <a:ext cx="14287500" cy="273367"/>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5F6F7F"/>
                </a:solidFill>
                <a:latin typeface="Source Sans 3"/>
                <a:ea typeface="Source Sans 3"/>
                <a:cs typeface="Source Sans 3"/>
                <a:sym typeface="Source Sans 3"/>
              </a:rPr>
              <a:t>Same steps for every session and both arms; nothing uses class labels.</a:t>
            </a:r>
          </a:p>
        </p:txBody>
      </p:sp>
      <p:grpSp>
        <p:nvGrpSpPr>
          <p:cNvPr name="Group 7" id="7"/>
          <p:cNvGrpSpPr/>
          <p:nvPr/>
        </p:nvGrpSpPr>
        <p:grpSpPr>
          <a:xfrm rot="0">
            <a:off x="809625" y="4095750"/>
            <a:ext cx="2238375" cy="1619250"/>
            <a:chOff x="0" y="0"/>
            <a:chExt cx="2984500" cy="2159000"/>
          </a:xfrm>
        </p:grpSpPr>
        <p:sp>
          <p:nvSpPr>
            <p:cNvPr name="Freeform 8" id="8"/>
            <p:cNvSpPr/>
            <p:nvPr/>
          </p:nvSpPr>
          <p:spPr>
            <a:xfrm flipH="false" flipV="false" rot="0">
              <a:off x="0" y="0"/>
              <a:ext cx="2984500" cy="2159000"/>
            </a:xfrm>
            <a:custGeom>
              <a:avLst/>
              <a:gdLst/>
              <a:ahLst/>
              <a:cxnLst/>
              <a:rect r="r" b="b" t="t" l="l"/>
              <a:pathLst>
                <a:path h="2159000" w="2984500">
                  <a:moveTo>
                    <a:pt x="97277" y="0"/>
                  </a:moveTo>
                  <a:lnTo>
                    <a:pt x="2887223" y="0"/>
                  </a:lnTo>
                  <a:cubicBezTo>
                    <a:pt x="2940948" y="0"/>
                    <a:pt x="2984500" y="43552"/>
                    <a:pt x="2984500" y="97277"/>
                  </a:cubicBezTo>
                  <a:lnTo>
                    <a:pt x="2984500" y="2061723"/>
                  </a:lnTo>
                  <a:cubicBezTo>
                    <a:pt x="2984500" y="2115448"/>
                    <a:pt x="2940948" y="2159000"/>
                    <a:pt x="2887223" y="2159000"/>
                  </a:cubicBezTo>
                  <a:lnTo>
                    <a:pt x="97277" y="2159000"/>
                  </a:lnTo>
                  <a:cubicBezTo>
                    <a:pt x="43552" y="2159000"/>
                    <a:pt x="0" y="2115448"/>
                    <a:pt x="0" y="2061723"/>
                  </a:cubicBezTo>
                  <a:lnTo>
                    <a:pt x="0" y="97277"/>
                  </a:lnTo>
                  <a:cubicBezTo>
                    <a:pt x="0" y="43552"/>
                    <a:pt x="43552" y="0"/>
                    <a:pt x="97277" y="0"/>
                  </a:cubicBezTo>
                  <a:close/>
                </a:path>
              </a:pathLst>
            </a:custGeom>
            <a:solidFill>
              <a:srgbClr val="EEF3F7"/>
            </a:solidFill>
            <a:ln cap="sq">
              <a:noFill/>
              <a:prstDash val="solid"/>
              <a:miter/>
            </a:ln>
          </p:spPr>
        </p:sp>
        <p:sp>
          <p:nvSpPr>
            <p:cNvPr name="TextBox 9" id="9"/>
            <p:cNvSpPr txBox="true"/>
            <p:nvPr/>
          </p:nvSpPr>
          <p:spPr>
            <a:xfrm>
              <a:off x="0" y="9525"/>
              <a:ext cx="2984500" cy="21494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1</a:t>
              </a:r>
            </a:p>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Load .mat + audit</a:t>
              </a:r>
            </a:p>
          </p:txBody>
        </p:sp>
      </p:grpSp>
      <p:sp>
        <p:nvSpPr>
          <p:cNvPr name="AutoShape 10" id="10"/>
          <p:cNvSpPr/>
          <p:nvPr/>
        </p:nvSpPr>
        <p:spPr>
          <a:xfrm>
            <a:off x="3048000" y="4905375"/>
            <a:ext cx="647700" cy="0"/>
          </a:xfrm>
          <a:prstGeom prst="line">
            <a:avLst/>
          </a:prstGeom>
          <a:ln cap="rnd" w="38100">
            <a:solidFill>
              <a:srgbClr val="C8D3DD"/>
            </a:solidFill>
            <a:prstDash val="solid"/>
            <a:headEnd type="none" len="sm" w="sm"/>
            <a:tailEnd type="none" len="sm" w="sm"/>
          </a:ln>
        </p:spPr>
      </p:sp>
      <p:grpSp>
        <p:nvGrpSpPr>
          <p:cNvPr name="Group 11" id="11"/>
          <p:cNvGrpSpPr/>
          <p:nvPr/>
        </p:nvGrpSpPr>
        <p:grpSpPr>
          <a:xfrm rot="0">
            <a:off x="3695700" y="4095750"/>
            <a:ext cx="2238375" cy="1619250"/>
            <a:chOff x="0" y="0"/>
            <a:chExt cx="2984500" cy="2159000"/>
          </a:xfrm>
        </p:grpSpPr>
        <p:sp>
          <p:nvSpPr>
            <p:cNvPr name="Freeform 12" id="12"/>
            <p:cNvSpPr/>
            <p:nvPr/>
          </p:nvSpPr>
          <p:spPr>
            <a:xfrm flipH="false" flipV="false" rot="0">
              <a:off x="0" y="0"/>
              <a:ext cx="2984500" cy="2159000"/>
            </a:xfrm>
            <a:custGeom>
              <a:avLst/>
              <a:gdLst/>
              <a:ahLst/>
              <a:cxnLst/>
              <a:rect r="r" b="b" t="t" l="l"/>
              <a:pathLst>
                <a:path h="2159000" w="2984500">
                  <a:moveTo>
                    <a:pt x="97277" y="0"/>
                  </a:moveTo>
                  <a:lnTo>
                    <a:pt x="2887223" y="0"/>
                  </a:lnTo>
                  <a:cubicBezTo>
                    <a:pt x="2940948" y="0"/>
                    <a:pt x="2984500" y="43552"/>
                    <a:pt x="2984500" y="97277"/>
                  </a:cubicBezTo>
                  <a:lnTo>
                    <a:pt x="2984500" y="2061723"/>
                  </a:lnTo>
                  <a:cubicBezTo>
                    <a:pt x="2984500" y="2115448"/>
                    <a:pt x="2940948" y="2159000"/>
                    <a:pt x="2887223" y="2159000"/>
                  </a:cubicBezTo>
                  <a:lnTo>
                    <a:pt x="97277" y="2159000"/>
                  </a:lnTo>
                  <a:cubicBezTo>
                    <a:pt x="43552" y="2159000"/>
                    <a:pt x="0" y="2115448"/>
                    <a:pt x="0" y="2061723"/>
                  </a:cubicBezTo>
                  <a:lnTo>
                    <a:pt x="0" y="97277"/>
                  </a:lnTo>
                  <a:cubicBezTo>
                    <a:pt x="0" y="43552"/>
                    <a:pt x="43552" y="0"/>
                    <a:pt x="97277" y="0"/>
                  </a:cubicBezTo>
                  <a:close/>
                </a:path>
              </a:pathLst>
            </a:custGeom>
            <a:solidFill>
              <a:srgbClr val="EEF3F7"/>
            </a:solidFill>
            <a:ln cap="sq">
              <a:noFill/>
              <a:prstDash val="solid"/>
              <a:miter/>
            </a:ln>
          </p:spPr>
        </p:sp>
        <p:sp>
          <p:nvSpPr>
            <p:cNvPr name="TextBox 13" id="13"/>
            <p:cNvSpPr txBox="true"/>
            <p:nvPr/>
          </p:nvSpPr>
          <p:spPr>
            <a:xfrm>
              <a:off x="0" y="9525"/>
              <a:ext cx="2984500" cy="21494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2</a:t>
              </a:r>
            </a:p>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FIR 1–40 Hz</a:t>
              </a:r>
            </a:p>
          </p:txBody>
        </p:sp>
      </p:grpSp>
      <p:sp>
        <p:nvSpPr>
          <p:cNvPr name="AutoShape 14" id="14"/>
          <p:cNvSpPr/>
          <p:nvPr/>
        </p:nvSpPr>
        <p:spPr>
          <a:xfrm>
            <a:off x="5934075" y="4905375"/>
            <a:ext cx="647700" cy="0"/>
          </a:xfrm>
          <a:prstGeom prst="line">
            <a:avLst/>
          </a:prstGeom>
          <a:ln cap="rnd" w="38100">
            <a:solidFill>
              <a:srgbClr val="C8D3DD"/>
            </a:solidFill>
            <a:prstDash val="solid"/>
            <a:headEnd type="none" len="sm" w="sm"/>
            <a:tailEnd type="none" len="sm" w="sm"/>
          </a:ln>
        </p:spPr>
      </p:sp>
      <p:grpSp>
        <p:nvGrpSpPr>
          <p:cNvPr name="Group 15" id="15"/>
          <p:cNvGrpSpPr/>
          <p:nvPr/>
        </p:nvGrpSpPr>
        <p:grpSpPr>
          <a:xfrm rot="0">
            <a:off x="6581775" y="4095750"/>
            <a:ext cx="2238375" cy="1619250"/>
            <a:chOff x="0" y="0"/>
            <a:chExt cx="2984500" cy="2159000"/>
          </a:xfrm>
        </p:grpSpPr>
        <p:sp>
          <p:nvSpPr>
            <p:cNvPr name="Freeform 16" id="16"/>
            <p:cNvSpPr/>
            <p:nvPr/>
          </p:nvSpPr>
          <p:spPr>
            <a:xfrm flipH="false" flipV="false" rot="0">
              <a:off x="0" y="0"/>
              <a:ext cx="2984500" cy="2159000"/>
            </a:xfrm>
            <a:custGeom>
              <a:avLst/>
              <a:gdLst/>
              <a:ahLst/>
              <a:cxnLst/>
              <a:rect r="r" b="b" t="t" l="l"/>
              <a:pathLst>
                <a:path h="2159000" w="2984500">
                  <a:moveTo>
                    <a:pt x="97277" y="0"/>
                  </a:moveTo>
                  <a:lnTo>
                    <a:pt x="2887223" y="0"/>
                  </a:lnTo>
                  <a:cubicBezTo>
                    <a:pt x="2940948" y="0"/>
                    <a:pt x="2984500" y="43552"/>
                    <a:pt x="2984500" y="97277"/>
                  </a:cubicBezTo>
                  <a:lnTo>
                    <a:pt x="2984500" y="2061723"/>
                  </a:lnTo>
                  <a:cubicBezTo>
                    <a:pt x="2984500" y="2115448"/>
                    <a:pt x="2940948" y="2159000"/>
                    <a:pt x="2887223" y="2159000"/>
                  </a:cubicBezTo>
                  <a:lnTo>
                    <a:pt x="97277" y="2159000"/>
                  </a:lnTo>
                  <a:cubicBezTo>
                    <a:pt x="43552" y="2159000"/>
                    <a:pt x="0" y="2115448"/>
                    <a:pt x="0" y="2061723"/>
                  </a:cubicBezTo>
                  <a:lnTo>
                    <a:pt x="0" y="97277"/>
                  </a:lnTo>
                  <a:cubicBezTo>
                    <a:pt x="0" y="43552"/>
                    <a:pt x="43552" y="0"/>
                    <a:pt x="97277" y="0"/>
                  </a:cubicBezTo>
                  <a:close/>
                </a:path>
              </a:pathLst>
            </a:custGeom>
            <a:solidFill>
              <a:srgbClr val="EEF3F7"/>
            </a:solidFill>
            <a:ln cap="sq">
              <a:noFill/>
              <a:prstDash val="solid"/>
              <a:miter/>
            </a:ln>
          </p:spPr>
        </p:sp>
        <p:sp>
          <p:nvSpPr>
            <p:cNvPr name="TextBox 17" id="17"/>
            <p:cNvSpPr txBox="true"/>
            <p:nvPr/>
          </p:nvSpPr>
          <p:spPr>
            <a:xfrm>
              <a:off x="0" y="9525"/>
              <a:ext cx="2984500" cy="21494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3</a:t>
              </a:r>
            </a:p>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EOG regression</a:t>
              </a:r>
            </a:p>
          </p:txBody>
        </p:sp>
      </p:grpSp>
      <p:sp>
        <p:nvSpPr>
          <p:cNvPr name="AutoShape 18" id="18"/>
          <p:cNvSpPr/>
          <p:nvPr/>
        </p:nvSpPr>
        <p:spPr>
          <a:xfrm>
            <a:off x="8820150" y="4905375"/>
            <a:ext cx="647700" cy="0"/>
          </a:xfrm>
          <a:prstGeom prst="line">
            <a:avLst/>
          </a:prstGeom>
          <a:ln cap="rnd" w="38100">
            <a:solidFill>
              <a:srgbClr val="C8D3DD"/>
            </a:solidFill>
            <a:prstDash val="solid"/>
            <a:headEnd type="none" len="sm" w="sm"/>
            <a:tailEnd type="none" len="sm" w="sm"/>
          </a:ln>
        </p:spPr>
      </p:sp>
      <p:grpSp>
        <p:nvGrpSpPr>
          <p:cNvPr name="Group 19" id="19"/>
          <p:cNvGrpSpPr/>
          <p:nvPr/>
        </p:nvGrpSpPr>
        <p:grpSpPr>
          <a:xfrm rot="0">
            <a:off x="9467850" y="4095750"/>
            <a:ext cx="2238375" cy="1619250"/>
            <a:chOff x="0" y="0"/>
            <a:chExt cx="2984500" cy="2159000"/>
          </a:xfrm>
        </p:grpSpPr>
        <p:sp>
          <p:nvSpPr>
            <p:cNvPr name="Freeform 20" id="20"/>
            <p:cNvSpPr/>
            <p:nvPr/>
          </p:nvSpPr>
          <p:spPr>
            <a:xfrm flipH="false" flipV="false" rot="0">
              <a:off x="0" y="0"/>
              <a:ext cx="2984500" cy="2159000"/>
            </a:xfrm>
            <a:custGeom>
              <a:avLst/>
              <a:gdLst/>
              <a:ahLst/>
              <a:cxnLst/>
              <a:rect r="r" b="b" t="t" l="l"/>
              <a:pathLst>
                <a:path h="2159000" w="2984500">
                  <a:moveTo>
                    <a:pt x="97277" y="0"/>
                  </a:moveTo>
                  <a:lnTo>
                    <a:pt x="2887223" y="0"/>
                  </a:lnTo>
                  <a:cubicBezTo>
                    <a:pt x="2940948" y="0"/>
                    <a:pt x="2984500" y="43552"/>
                    <a:pt x="2984500" y="97277"/>
                  </a:cubicBezTo>
                  <a:lnTo>
                    <a:pt x="2984500" y="2061723"/>
                  </a:lnTo>
                  <a:cubicBezTo>
                    <a:pt x="2984500" y="2115448"/>
                    <a:pt x="2940948" y="2159000"/>
                    <a:pt x="2887223" y="2159000"/>
                  </a:cubicBezTo>
                  <a:lnTo>
                    <a:pt x="97277" y="2159000"/>
                  </a:lnTo>
                  <a:cubicBezTo>
                    <a:pt x="43552" y="2159000"/>
                    <a:pt x="0" y="2115448"/>
                    <a:pt x="0" y="2061723"/>
                  </a:cubicBezTo>
                  <a:lnTo>
                    <a:pt x="0" y="97277"/>
                  </a:lnTo>
                  <a:cubicBezTo>
                    <a:pt x="0" y="43552"/>
                    <a:pt x="43552" y="0"/>
                    <a:pt x="97277" y="0"/>
                  </a:cubicBezTo>
                  <a:close/>
                </a:path>
              </a:pathLst>
            </a:custGeom>
            <a:solidFill>
              <a:srgbClr val="EEF3F7"/>
            </a:solidFill>
            <a:ln cap="sq">
              <a:noFill/>
              <a:prstDash val="solid"/>
              <a:miter/>
            </a:ln>
          </p:spPr>
        </p:sp>
        <p:sp>
          <p:nvSpPr>
            <p:cNvPr name="TextBox 21" id="21"/>
            <p:cNvSpPr txBox="true"/>
            <p:nvPr/>
          </p:nvSpPr>
          <p:spPr>
            <a:xfrm>
              <a:off x="0" y="9525"/>
              <a:ext cx="2984500" cy="21494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4</a:t>
              </a:r>
            </a:p>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Epochs 0–7.5 s</a:t>
              </a:r>
            </a:p>
          </p:txBody>
        </p:sp>
      </p:grpSp>
      <p:sp>
        <p:nvSpPr>
          <p:cNvPr name="AutoShape 22" id="22"/>
          <p:cNvSpPr/>
          <p:nvPr/>
        </p:nvSpPr>
        <p:spPr>
          <a:xfrm>
            <a:off x="11706225" y="4905375"/>
            <a:ext cx="647700" cy="0"/>
          </a:xfrm>
          <a:prstGeom prst="line">
            <a:avLst/>
          </a:prstGeom>
          <a:ln cap="rnd" w="38100">
            <a:solidFill>
              <a:srgbClr val="C8D3DD"/>
            </a:solidFill>
            <a:prstDash val="solid"/>
            <a:headEnd type="none" len="sm" w="sm"/>
            <a:tailEnd type="none" len="sm" w="sm"/>
          </a:ln>
        </p:spPr>
      </p:sp>
      <p:grpSp>
        <p:nvGrpSpPr>
          <p:cNvPr name="Group 23" id="23"/>
          <p:cNvGrpSpPr/>
          <p:nvPr/>
        </p:nvGrpSpPr>
        <p:grpSpPr>
          <a:xfrm rot="0">
            <a:off x="12353925" y="4095750"/>
            <a:ext cx="2238375" cy="1619250"/>
            <a:chOff x="0" y="0"/>
            <a:chExt cx="2984500" cy="2159000"/>
          </a:xfrm>
        </p:grpSpPr>
        <p:sp>
          <p:nvSpPr>
            <p:cNvPr name="Freeform 24" id="24"/>
            <p:cNvSpPr/>
            <p:nvPr/>
          </p:nvSpPr>
          <p:spPr>
            <a:xfrm flipH="false" flipV="false" rot="0">
              <a:off x="0" y="0"/>
              <a:ext cx="2984500" cy="2159000"/>
            </a:xfrm>
            <a:custGeom>
              <a:avLst/>
              <a:gdLst/>
              <a:ahLst/>
              <a:cxnLst/>
              <a:rect r="r" b="b" t="t" l="l"/>
              <a:pathLst>
                <a:path h="2159000" w="2984500">
                  <a:moveTo>
                    <a:pt x="97277" y="0"/>
                  </a:moveTo>
                  <a:lnTo>
                    <a:pt x="2887223" y="0"/>
                  </a:lnTo>
                  <a:cubicBezTo>
                    <a:pt x="2940948" y="0"/>
                    <a:pt x="2984500" y="43552"/>
                    <a:pt x="2984500" y="97277"/>
                  </a:cubicBezTo>
                  <a:lnTo>
                    <a:pt x="2984500" y="2061723"/>
                  </a:lnTo>
                  <a:cubicBezTo>
                    <a:pt x="2984500" y="2115448"/>
                    <a:pt x="2940948" y="2159000"/>
                    <a:pt x="2887223" y="2159000"/>
                  </a:cubicBezTo>
                  <a:lnTo>
                    <a:pt x="97277" y="2159000"/>
                  </a:lnTo>
                  <a:cubicBezTo>
                    <a:pt x="43552" y="2159000"/>
                    <a:pt x="0" y="2115448"/>
                    <a:pt x="0" y="2061723"/>
                  </a:cubicBezTo>
                  <a:lnTo>
                    <a:pt x="0" y="97277"/>
                  </a:lnTo>
                  <a:cubicBezTo>
                    <a:pt x="0" y="43552"/>
                    <a:pt x="43552" y="0"/>
                    <a:pt x="97277" y="0"/>
                  </a:cubicBezTo>
                  <a:close/>
                </a:path>
              </a:pathLst>
            </a:custGeom>
            <a:solidFill>
              <a:srgbClr val="EEF3F7"/>
            </a:solidFill>
            <a:ln cap="sq">
              <a:noFill/>
              <a:prstDash val="solid"/>
              <a:miter/>
            </a:ln>
          </p:spPr>
        </p:sp>
        <p:sp>
          <p:nvSpPr>
            <p:cNvPr name="TextBox 25" id="25"/>
            <p:cNvSpPr txBox="true"/>
            <p:nvPr/>
          </p:nvSpPr>
          <p:spPr>
            <a:xfrm>
              <a:off x="0" y="9525"/>
              <a:ext cx="2984500" cy="21494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5</a:t>
              </a:r>
            </a:p>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Clean training trials</a:t>
              </a:r>
            </a:p>
          </p:txBody>
        </p:sp>
      </p:grpSp>
      <p:sp>
        <p:nvSpPr>
          <p:cNvPr name="AutoShape 26" id="26"/>
          <p:cNvSpPr/>
          <p:nvPr/>
        </p:nvSpPr>
        <p:spPr>
          <a:xfrm>
            <a:off x="14592300" y="4905375"/>
            <a:ext cx="647700" cy="0"/>
          </a:xfrm>
          <a:prstGeom prst="line">
            <a:avLst/>
          </a:prstGeom>
          <a:ln cap="rnd" w="38100">
            <a:solidFill>
              <a:srgbClr val="C8D3DD"/>
            </a:solidFill>
            <a:prstDash val="solid"/>
            <a:headEnd type="none" len="sm" w="sm"/>
            <a:tailEnd type="none" len="sm" w="sm"/>
          </a:ln>
        </p:spPr>
      </p:sp>
      <p:grpSp>
        <p:nvGrpSpPr>
          <p:cNvPr name="Group 27" id="27"/>
          <p:cNvGrpSpPr/>
          <p:nvPr/>
        </p:nvGrpSpPr>
        <p:grpSpPr>
          <a:xfrm rot="0">
            <a:off x="15240000" y="4095750"/>
            <a:ext cx="2238375" cy="1619250"/>
            <a:chOff x="0" y="0"/>
            <a:chExt cx="2984500" cy="2159000"/>
          </a:xfrm>
        </p:grpSpPr>
        <p:sp>
          <p:nvSpPr>
            <p:cNvPr name="Freeform 28" id="28"/>
            <p:cNvSpPr/>
            <p:nvPr/>
          </p:nvSpPr>
          <p:spPr>
            <a:xfrm flipH="false" flipV="false" rot="0">
              <a:off x="0" y="0"/>
              <a:ext cx="2984500" cy="2159000"/>
            </a:xfrm>
            <a:custGeom>
              <a:avLst/>
              <a:gdLst/>
              <a:ahLst/>
              <a:cxnLst/>
              <a:rect r="r" b="b" t="t" l="l"/>
              <a:pathLst>
                <a:path h="2159000" w="2984500">
                  <a:moveTo>
                    <a:pt x="97277" y="0"/>
                  </a:moveTo>
                  <a:lnTo>
                    <a:pt x="2887223" y="0"/>
                  </a:lnTo>
                  <a:cubicBezTo>
                    <a:pt x="2940948" y="0"/>
                    <a:pt x="2984500" y="43552"/>
                    <a:pt x="2984500" y="97277"/>
                  </a:cubicBezTo>
                  <a:lnTo>
                    <a:pt x="2984500" y="2061723"/>
                  </a:lnTo>
                  <a:cubicBezTo>
                    <a:pt x="2984500" y="2115448"/>
                    <a:pt x="2940948" y="2159000"/>
                    <a:pt x="2887223" y="2159000"/>
                  </a:cubicBezTo>
                  <a:lnTo>
                    <a:pt x="97277" y="2159000"/>
                  </a:lnTo>
                  <a:cubicBezTo>
                    <a:pt x="43552" y="2159000"/>
                    <a:pt x="0" y="2115448"/>
                    <a:pt x="0" y="2061723"/>
                  </a:cubicBezTo>
                  <a:lnTo>
                    <a:pt x="0" y="97277"/>
                  </a:lnTo>
                  <a:cubicBezTo>
                    <a:pt x="0" y="43552"/>
                    <a:pt x="43552" y="0"/>
                    <a:pt x="97277" y="0"/>
                  </a:cubicBezTo>
                  <a:close/>
                </a:path>
              </a:pathLst>
            </a:custGeom>
            <a:solidFill>
              <a:srgbClr val="EF6C2F"/>
            </a:solidFill>
            <a:ln cap="sq">
              <a:noFill/>
              <a:prstDash val="solid"/>
              <a:miter/>
            </a:ln>
          </p:spPr>
        </p:sp>
        <p:sp>
          <p:nvSpPr>
            <p:cNvPr name="TextBox 29" id="29"/>
            <p:cNvSpPr txBox="true"/>
            <p:nvPr/>
          </p:nvSpPr>
          <p:spPr>
            <a:xfrm>
              <a:off x="0" y="9525"/>
              <a:ext cx="2984500" cy="21494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FFFFFF"/>
                  </a:solidFill>
                  <a:latin typeface="Source Sans 3 Bold"/>
                  <a:ea typeface="Source Sans 3 Bold"/>
                  <a:cs typeface="Source Sans 3 Bold"/>
                  <a:sym typeface="Source Sans 3 Bold"/>
                </a:rPr>
                <a:t>6</a:t>
              </a:r>
            </a:p>
            <a:p>
              <a:pPr algn="ctr" marL="0" indent="0" lvl="0">
                <a:lnSpc>
                  <a:spcPts val="2070"/>
                </a:lnSpc>
                <a:spcBef>
                  <a:spcPct val="0"/>
                </a:spcBef>
              </a:pPr>
              <a:r>
                <a:rPr lang="en-US" b="true" sz="1800" strike="noStrike" u="none">
                  <a:solidFill>
                    <a:srgbClr val="FFFFFF"/>
                  </a:solidFill>
                  <a:latin typeface="Source Sans 3 Bold"/>
                  <a:ea typeface="Source Sans 3 Bold"/>
                  <a:cs typeface="Source Sans 3 Bold"/>
                  <a:sym typeface="Source Sans 3 Bold"/>
                </a:rPr>
                <a:t>Log band power</a:t>
              </a:r>
            </a:p>
          </p:txBody>
        </p:sp>
      </p:grpSp>
      <p:sp>
        <p:nvSpPr>
          <p:cNvPr name="TextBox 30" id="30"/>
          <p:cNvSpPr txBox="true"/>
          <p:nvPr/>
        </p:nvSpPr>
        <p:spPr>
          <a:xfrm rot="0">
            <a:off x="2381250" y="6829425"/>
            <a:ext cx="13525500" cy="837247"/>
          </a:xfrm>
          <a:prstGeom prst="rect">
            <a:avLst/>
          </a:prstGeom>
        </p:spPr>
        <p:txBody>
          <a:bodyPr anchor="t" rtlCol="false" tIns="0" lIns="0" bIns="0" rIns="0">
            <a:spAutoFit/>
          </a:bodyPr>
          <a:lstStyle/>
          <a:p>
            <a:pPr algn="ctr" marL="0" indent="0" lvl="0">
              <a:lnSpc>
                <a:spcPts val="3442"/>
              </a:lnSpc>
              <a:spcBef>
                <a:spcPct val="0"/>
              </a:spcBef>
            </a:pPr>
            <a:r>
              <a:rPr lang="en-US" sz="2550" strike="noStrike" u="none">
                <a:solidFill>
                  <a:srgbClr val="0B1F3A"/>
                </a:solidFill>
                <a:latin typeface="Source Sans 3"/>
                <a:ea typeface="Source Sans 3"/>
                <a:cs typeface="Source Sans 3"/>
                <a:sym typeface="Source Sans 3"/>
              </a:rPr>
              <a:t>EOG weights come from the pre-trial calibration recording (43 of 45 sessions). Expert-flagged and &gt;5 robust-SD outlier trials — 1,272 (19.5%) — are left out of training only. Every trial is still scored.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47750" y="714375"/>
            <a:ext cx="14287500" cy="641032"/>
          </a:xfrm>
          <a:prstGeom prst="rect">
            <a:avLst/>
          </a:prstGeom>
        </p:spPr>
        <p:txBody>
          <a:bodyPr anchor="t" rtlCol="false" tIns="0" lIns="0" bIns="0" rIns="0">
            <a:spAutoFit/>
          </a:bodyPr>
          <a:lstStyle/>
          <a:p>
            <a:pPr algn="l">
              <a:lnSpc>
                <a:spcPts val="4882"/>
              </a:lnSpc>
            </a:pPr>
            <a:r>
              <a:rPr lang="en-US" sz="4650" b="true">
                <a:solidFill>
                  <a:srgbClr val="0B1F3A"/>
                </a:solidFill>
                <a:latin typeface="League Spartan"/>
                <a:ea typeface="League Spartan"/>
                <a:cs typeface="League Spartan"/>
                <a:sym typeface="League Spartan"/>
              </a:rPr>
              <a:t>The expected brain response is there</a:t>
            </a:r>
          </a:p>
        </p:txBody>
      </p:sp>
      <p:grpSp>
        <p:nvGrpSpPr>
          <p:cNvPr name="Group 3" id="3"/>
          <p:cNvGrpSpPr/>
          <p:nvPr/>
        </p:nvGrpSpPr>
        <p:grpSpPr>
          <a:xfrm rot="0">
            <a:off x="1047750" y="1584008"/>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a:ln cap="sq">
              <a:noFill/>
              <a:prstDash val="solid"/>
              <a:miter/>
            </a:ln>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1793558"/>
            <a:ext cx="14287500" cy="273367"/>
          </a:xfrm>
          <a:prstGeom prst="rect">
            <a:avLst/>
          </a:prstGeom>
        </p:spPr>
        <p:txBody>
          <a:bodyPr anchor="t" rtlCol="false" tIns="0" lIns="0" bIns="0" rIns="0">
            <a:spAutoFit/>
          </a:bodyPr>
          <a:lstStyle/>
          <a:p>
            <a:pPr algn="l">
              <a:lnSpc>
                <a:spcPts val="2242"/>
              </a:lnSpc>
            </a:pPr>
            <a:r>
              <a:rPr lang="en-US" sz="1725">
                <a:solidFill>
                  <a:srgbClr val="5F6F7F"/>
                </a:solidFill>
                <a:latin typeface="Source Sans 3"/>
                <a:ea typeface="Source Sans 3"/>
                <a:cs typeface="Source Sans 3"/>
                <a:sym typeface="Source Sans 3"/>
              </a:rPr>
              <a:t>Before decoding, we checked for event-related desynchronisation (ERD).</a:t>
            </a:r>
          </a:p>
        </p:txBody>
      </p:sp>
      <p:sp>
        <p:nvSpPr>
          <p:cNvPr name="TextBox 7" id="7"/>
          <p:cNvSpPr txBox="true"/>
          <p:nvPr/>
        </p:nvSpPr>
        <p:spPr>
          <a:xfrm rot="0">
            <a:off x="1047750" y="3095625"/>
            <a:ext cx="6477000" cy="1824990"/>
          </a:xfrm>
          <a:prstGeom prst="rect">
            <a:avLst/>
          </a:prstGeom>
        </p:spPr>
        <p:txBody>
          <a:bodyPr anchor="t" rtlCol="false" tIns="0" lIns="0" bIns="0" rIns="0">
            <a:spAutoFit/>
          </a:bodyPr>
          <a:lstStyle/>
          <a:p>
            <a:pPr algn="l" marL="0" indent="0" lvl="0">
              <a:lnSpc>
                <a:spcPts val="3645"/>
              </a:lnSpc>
              <a:spcBef>
                <a:spcPct val="0"/>
              </a:spcBef>
            </a:pPr>
            <a:r>
              <a:rPr lang="en-US" b="true" sz="2700" strike="noStrike" u="none">
                <a:solidFill>
                  <a:srgbClr val="0B1F3A"/>
                </a:solidFill>
                <a:latin typeface="Source Sans 3 Bold"/>
                <a:ea typeface="Source Sans 3 Bold"/>
                <a:cs typeface="Source Sans 3 Bold"/>
                <a:sym typeface="Source Sans 3 Bold"/>
              </a:rPr>
              <a:t>After the cue (3 s), mu and beta power drop more at C3 for right-hand and at C4 for left-hand imagery — contralateral ERD, in screening and feedback sessions.</a:t>
            </a:r>
          </a:p>
        </p:txBody>
      </p:sp>
      <p:sp>
        <p:nvSpPr>
          <p:cNvPr name="TextBox 8" id="8"/>
          <p:cNvSpPr txBox="true"/>
          <p:nvPr/>
        </p:nvSpPr>
        <p:spPr>
          <a:xfrm rot="0">
            <a:off x="1047750" y="6257925"/>
            <a:ext cx="6477000" cy="730091"/>
          </a:xfrm>
          <a:prstGeom prst="rect">
            <a:avLst/>
          </a:prstGeom>
        </p:spPr>
        <p:txBody>
          <a:bodyPr anchor="t" rtlCol="false" tIns="0" lIns="0" bIns="0" rIns="0">
            <a:spAutoFit/>
          </a:bodyPr>
          <a:lstStyle/>
          <a:p>
            <a:pPr algn="l" marL="0" indent="0" lvl="0">
              <a:lnSpc>
                <a:spcPts val="2936"/>
              </a:lnSpc>
              <a:spcBef>
                <a:spcPct val="0"/>
              </a:spcBef>
            </a:pPr>
            <a:r>
              <a:rPr lang="en-US" sz="2175" strike="noStrike" u="none">
                <a:solidFill>
                  <a:srgbClr val="0B1F3A"/>
                </a:solidFill>
                <a:latin typeface="Source Sans 3"/>
                <a:ea typeface="Source Sans 3"/>
                <a:cs typeface="Source Sans 3"/>
                <a:sym typeface="Source Sans 3"/>
              </a:rPr>
              <a:t>The 3.5–5.5 s feature window sits inside the drop. This is a sanity check, not a decoding result.</a:t>
            </a:r>
          </a:p>
        </p:txBody>
      </p:sp>
      <p:sp>
        <p:nvSpPr>
          <p:cNvPr name="Freeform 9" id="9" descr="Grand-average ERD at C3 and C4 in mu and beta bands for left and right hand imagery"/>
          <p:cNvSpPr/>
          <p:nvPr/>
        </p:nvSpPr>
        <p:spPr>
          <a:xfrm flipH="false" flipV="false" rot="0">
            <a:off x="8096250" y="2333625"/>
            <a:ext cx="9620250" cy="3819525"/>
          </a:xfrm>
          <a:custGeom>
            <a:avLst/>
            <a:gdLst/>
            <a:ahLst/>
            <a:cxnLst/>
            <a:rect r="r" b="b" t="t" l="l"/>
            <a:pathLst>
              <a:path h="3819525" w="9620250">
                <a:moveTo>
                  <a:pt x="0" y="0"/>
                </a:moveTo>
                <a:lnTo>
                  <a:pt x="9620250" y="0"/>
                </a:lnTo>
                <a:lnTo>
                  <a:pt x="9620250" y="3819525"/>
                </a:lnTo>
                <a:lnTo>
                  <a:pt x="0" y="3819525"/>
                </a:lnTo>
                <a:lnTo>
                  <a:pt x="0" y="0"/>
                </a:lnTo>
                <a:close/>
              </a:path>
            </a:pathLst>
          </a:custGeom>
          <a:blipFill>
            <a:blip r:embed="rId3"/>
            <a:stretch>
              <a:fillRect l="-98" t="0" r="-98" b="0"/>
            </a:stretch>
          </a:blipFill>
        </p:spPr>
      </p:sp>
      <p:sp>
        <p:nvSpPr>
          <p:cNvPr name="Freeform 10" id="10" descr="Time-frequency signed r-squared maps at C3, Cz, C4"/>
          <p:cNvSpPr/>
          <p:nvPr/>
        </p:nvSpPr>
        <p:spPr>
          <a:xfrm flipH="false" flipV="false" rot="0">
            <a:off x="8096250" y="6334125"/>
            <a:ext cx="9620250" cy="3524250"/>
          </a:xfrm>
          <a:custGeom>
            <a:avLst/>
            <a:gdLst/>
            <a:ahLst/>
            <a:cxnLst/>
            <a:rect r="r" b="b" t="t" l="l"/>
            <a:pathLst>
              <a:path h="3524250" w="9620250">
                <a:moveTo>
                  <a:pt x="0" y="0"/>
                </a:moveTo>
                <a:lnTo>
                  <a:pt x="9620250" y="0"/>
                </a:lnTo>
                <a:lnTo>
                  <a:pt x="9620250" y="3524250"/>
                </a:lnTo>
                <a:lnTo>
                  <a:pt x="0" y="3524250"/>
                </a:lnTo>
                <a:lnTo>
                  <a:pt x="0" y="0"/>
                </a:lnTo>
                <a:close/>
              </a:path>
            </a:pathLst>
          </a:custGeom>
          <a:blipFill>
            <a:blip r:embed="rId4"/>
            <a:stretch>
              <a:fillRect l="-183" t="0" r="-183" b="0"/>
            </a:stretch>
          </a:blipFill>
        </p:spPr>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47750" y="714375"/>
            <a:ext cx="14287500" cy="641032"/>
          </a:xfrm>
          <a:prstGeom prst="rect">
            <a:avLst/>
          </a:prstGeom>
        </p:spPr>
        <p:txBody>
          <a:bodyPr anchor="t" rtlCol="false" tIns="0" lIns="0" bIns="0" rIns="0">
            <a:spAutoFit/>
          </a:bodyPr>
          <a:lstStyle/>
          <a:p>
            <a:pPr algn="l">
              <a:lnSpc>
                <a:spcPts val="4882"/>
              </a:lnSpc>
            </a:pPr>
            <a:r>
              <a:rPr lang="en-US" sz="4650" b="true">
                <a:solidFill>
                  <a:srgbClr val="0B1F3A"/>
                </a:solidFill>
                <a:latin typeface="League Spartan"/>
                <a:ea typeface="League Spartan"/>
                <a:cs typeface="League Spartan"/>
                <a:sym typeface="League Spartan"/>
              </a:rPr>
              <a:t>Features, decoder and leak-free evaluation</a:t>
            </a:r>
          </a:p>
        </p:txBody>
      </p:sp>
      <p:grpSp>
        <p:nvGrpSpPr>
          <p:cNvPr name="Group 3" id="3"/>
          <p:cNvGrpSpPr/>
          <p:nvPr/>
        </p:nvGrpSpPr>
        <p:grpSpPr>
          <a:xfrm rot="0">
            <a:off x="1047750" y="1584008"/>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a:ln cap="sq">
              <a:noFill/>
              <a:prstDash val="solid"/>
              <a:miter/>
            </a:ln>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1143000" y="3333750"/>
            <a:ext cx="3429000" cy="1619250"/>
            <a:chOff x="0" y="0"/>
            <a:chExt cx="4572000" cy="2159000"/>
          </a:xfrm>
        </p:grpSpPr>
        <p:sp>
          <p:nvSpPr>
            <p:cNvPr name="Freeform 7" id="7"/>
            <p:cNvSpPr/>
            <p:nvPr/>
          </p:nvSpPr>
          <p:spPr>
            <a:xfrm flipH="false" flipV="false" rot="0">
              <a:off x="0" y="0"/>
              <a:ext cx="4572000" cy="2159000"/>
            </a:xfrm>
            <a:custGeom>
              <a:avLst/>
              <a:gdLst/>
              <a:ahLst/>
              <a:cxnLst/>
              <a:rect r="r" b="b" t="t" l="l"/>
              <a:pathLst>
                <a:path h="2159000" w="4572000">
                  <a:moveTo>
                    <a:pt x="63500" y="0"/>
                  </a:moveTo>
                  <a:lnTo>
                    <a:pt x="4508500" y="0"/>
                  </a:lnTo>
                  <a:cubicBezTo>
                    <a:pt x="4543570" y="0"/>
                    <a:pt x="4572000" y="28430"/>
                    <a:pt x="4572000" y="63500"/>
                  </a:cubicBezTo>
                  <a:lnTo>
                    <a:pt x="4572000" y="2095500"/>
                  </a:lnTo>
                  <a:cubicBezTo>
                    <a:pt x="4572000" y="2130570"/>
                    <a:pt x="4543570" y="2159000"/>
                    <a:pt x="4508500" y="2159000"/>
                  </a:cubicBezTo>
                  <a:lnTo>
                    <a:pt x="63500" y="2159000"/>
                  </a:lnTo>
                  <a:cubicBezTo>
                    <a:pt x="28430" y="2159000"/>
                    <a:pt x="0" y="2130570"/>
                    <a:pt x="0" y="2095500"/>
                  </a:cubicBezTo>
                  <a:lnTo>
                    <a:pt x="0" y="63500"/>
                  </a:lnTo>
                  <a:cubicBezTo>
                    <a:pt x="0" y="28430"/>
                    <a:pt x="28430" y="0"/>
                    <a:pt x="63500" y="0"/>
                  </a:cubicBezTo>
                  <a:close/>
                </a:path>
              </a:pathLst>
            </a:custGeom>
            <a:solidFill>
              <a:srgbClr val="0B1F3A"/>
            </a:solidFill>
            <a:ln cap="sq">
              <a:noFill/>
              <a:prstDash val="solid"/>
              <a:miter/>
            </a:ln>
          </p:spPr>
        </p:sp>
        <p:sp>
          <p:nvSpPr>
            <p:cNvPr name="TextBox 8" id="8"/>
            <p:cNvSpPr txBox="true"/>
            <p:nvPr/>
          </p:nvSpPr>
          <p:spPr>
            <a:xfrm>
              <a:off x="0" y="9525"/>
              <a:ext cx="4572000" cy="21494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FFFFFF"/>
                  </a:solidFill>
                  <a:latin typeface="Source Sans 3 Bold"/>
                  <a:ea typeface="Source Sans 3 Bold"/>
                  <a:cs typeface="Source Sans 3 Bold"/>
                  <a:sym typeface="Source Sans 3 Bold"/>
                </a:rPr>
                <a:t>FEATURES</a:t>
              </a:r>
            </a:p>
            <a:p>
              <a:pPr algn="ctr" marL="0" indent="0" lvl="0">
                <a:lnSpc>
                  <a:spcPts val="2070"/>
                </a:lnSpc>
                <a:spcBef>
                  <a:spcPct val="0"/>
                </a:spcBef>
              </a:pPr>
              <a:r>
                <a:rPr lang="en-US" b="true" sz="1800" strike="noStrike" u="none">
                  <a:solidFill>
                    <a:srgbClr val="FFFFFF"/>
                  </a:solidFill>
                  <a:latin typeface="Source Sans 3 Bold"/>
                  <a:ea typeface="Source Sans 3 Bold"/>
                  <a:cs typeface="Source Sans 3 Bold"/>
                  <a:sym typeface="Source Sans 3 Bold"/>
                </a:rPr>
                <a:t>6 log band powers: mu 8–12 + beta 13–30 Hz × C3, Cz, C4</a:t>
              </a:r>
            </a:p>
          </p:txBody>
        </p:sp>
      </p:grpSp>
      <p:sp>
        <p:nvSpPr>
          <p:cNvPr name="AutoShape 9" id="9"/>
          <p:cNvSpPr/>
          <p:nvPr/>
        </p:nvSpPr>
        <p:spPr>
          <a:xfrm>
            <a:off x="4572000" y="4143375"/>
            <a:ext cx="1619250" cy="0"/>
          </a:xfrm>
          <a:prstGeom prst="line">
            <a:avLst/>
          </a:prstGeom>
          <a:ln cap="flat" w="47625">
            <a:solidFill>
              <a:srgbClr val="EF6C2F"/>
            </a:solidFill>
            <a:prstDash val="solid"/>
            <a:headEnd type="none" len="sm" w="sm"/>
            <a:tailEnd type="none" len="sm" w="sm"/>
          </a:ln>
        </p:spPr>
      </p:sp>
      <p:grpSp>
        <p:nvGrpSpPr>
          <p:cNvPr name="Group 10" id="10"/>
          <p:cNvGrpSpPr/>
          <p:nvPr/>
        </p:nvGrpSpPr>
        <p:grpSpPr>
          <a:xfrm rot="0">
            <a:off x="6191250" y="3333750"/>
            <a:ext cx="4095750" cy="1619250"/>
            <a:chOff x="0" y="0"/>
            <a:chExt cx="5461000" cy="2159000"/>
          </a:xfrm>
        </p:grpSpPr>
        <p:sp>
          <p:nvSpPr>
            <p:cNvPr name="Freeform 11" id="11"/>
            <p:cNvSpPr/>
            <p:nvPr/>
          </p:nvSpPr>
          <p:spPr>
            <a:xfrm flipH="false" flipV="false" rot="0">
              <a:off x="0" y="0"/>
              <a:ext cx="5461000" cy="2159000"/>
            </a:xfrm>
            <a:custGeom>
              <a:avLst/>
              <a:gdLst/>
              <a:ahLst/>
              <a:cxnLst/>
              <a:rect r="r" b="b" t="t" l="l"/>
              <a:pathLst>
                <a:path h="2159000" w="5461000">
                  <a:moveTo>
                    <a:pt x="53163" y="0"/>
                  </a:moveTo>
                  <a:lnTo>
                    <a:pt x="5407837" y="0"/>
                  </a:lnTo>
                  <a:cubicBezTo>
                    <a:pt x="5421937" y="0"/>
                    <a:pt x="5435459" y="5601"/>
                    <a:pt x="5445429" y="15571"/>
                  </a:cubicBezTo>
                  <a:cubicBezTo>
                    <a:pt x="5455399" y="25541"/>
                    <a:pt x="5461000" y="39063"/>
                    <a:pt x="5461000" y="53163"/>
                  </a:cubicBezTo>
                  <a:lnTo>
                    <a:pt x="5461000" y="2105837"/>
                  </a:lnTo>
                  <a:cubicBezTo>
                    <a:pt x="5461000" y="2119937"/>
                    <a:pt x="5455399" y="2133459"/>
                    <a:pt x="5445429" y="2143429"/>
                  </a:cubicBezTo>
                  <a:cubicBezTo>
                    <a:pt x="5435459" y="2153399"/>
                    <a:pt x="5421937" y="2159000"/>
                    <a:pt x="5407837" y="2159000"/>
                  </a:cubicBezTo>
                  <a:lnTo>
                    <a:pt x="53163" y="2159000"/>
                  </a:lnTo>
                  <a:cubicBezTo>
                    <a:pt x="39063" y="2159000"/>
                    <a:pt x="25541" y="2153399"/>
                    <a:pt x="15571" y="2143429"/>
                  </a:cubicBezTo>
                  <a:cubicBezTo>
                    <a:pt x="5601" y="2133459"/>
                    <a:pt x="0" y="2119937"/>
                    <a:pt x="0" y="2105837"/>
                  </a:cubicBezTo>
                  <a:lnTo>
                    <a:pt x="0" y="53163"/>
                  </a:lnTo>
                  <a:cubicBezTo>
                    <a:pt x="0" y="39063"/>
                    <a:pt x="5601" y="25541"/>
                    <a:pt x="15571" y="15571"/>
                  </a:cubicBezTo>
                  <a:cubicBezTo>
                    <a:pt x="25541" y="5601"/>
                    <a:pt x="39063" y="0"/>
                    <a:pt x="53163" y="0"/>
                  </a:cubicBezTo>
                  <a:close/>
                </a:path>
              </a:pathLst>
            </a:custGeom>
            <a:solidFill>
              <a:srgbClr val="FFF3EB"/>
            </a:solidFill>
            <a:ln cap="sq">
              <a:noFill/>
              <a:prstDash val="solid"/>
              <a:miter/>
            </a:ln>
          </p:spPr>
        </p:sp>
        <p:sp>
          <p:nvSpPr>
            <p:cNvPr name="TextBox 12" id="12"/>
            <p:cNvSpPr txBox="true"/>
            <p:nvPr/>
          </p:nvSpPr>
          <p:spPr>
            <a:xfrm>
              <a:off x="0" y="9525"/>
              <a:ext cx="5461000" cy="21494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DECODER</a:t>
              </a:r>
            </a:p>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Logistic regression, scaler refitted in every fold</a:t>
              </a:r>
            </a:p>
          </p:txBody>
        </p:sp>
      </p:grpSp>
      <p:sp>
        <p:nvSpPr>
          <p:cNvPr name="AutoShape 13" id="13"/>
          <p:cNvSpPr/>
          <p:nvPr/>
        </p:nvSpPr>
        <p:spPr>
          <a:xfrm flipV="true">
            <a:off x="10287000" y="3190875"/>
            <a:ext cx="1714500" cy="952500"/>
          </a:xfrm>
          <a:prstGeom prst="line">
            <a:avLst/>
          </a:prstGeom>
          <a:ln cap="flat" w="38100">
            <a:solidFill>
              <a:srgbClr val="C8D3DD"/>
            </a:solidFill>
            <a:prstDash val="solid"/>
            <a:headEnd type="none" len="sm" w="sm"/>
            <a:tailEnd type="none" len="sm" w="sm"/>
          </a:ln>
        </p:spPr>
      </p:sp>
      <p:grpSp>
        <p:nvGrpSpPr>
          <p:cNvPr name="Group 14" id="14"/>
          <p:cNvGrpSpPr/>
          <p:nvPr/>
        </p:nvGrpSpPr>
        <p:grpSpPr>
          <a:xfrm rot="0">
            <a:off x="12001500" y="2476500"/>
            <a:ext cx="4476750" cy="1428750"/>
            <a:chOff x="0" y="0"/>
            <a:chExt cx="5969000" cy="1905000"/>
          </a:xfrm>
        </p:grpSpPr>
        <p:sp>
          <p:nvSpPr>
            <p:cNvPr name="Freeform 15" id="15"/>
            <p:cNvSpPr/>
            <p:nvPr/>
          </p:nvSpPr>
          <p:spPr>
            <a:xfrm flipH="false" flipV="false" rot="0">
              <a:off x="0" y="0"/>
              <a:ext cx="5969000" cy="1905000"/>
            </a:xfrm>
            <a:custGeom>
              <a:avLst/>
              <a:gdLst/>
              <a:ahLst/>
              <a:cxnLst/>
              <a:rect r="r" b="b" t="t" l="l"/>
              <a:pathLst>
                <a:path h="1905000" w="5969000">
                  <a:moveTo>
                    <a:pt x="48638" y="0"/>
                  </a:moveTo>
                  <a:lnTo>
                    <a:pt x="5920362" y="0"/>
                  </a:lnTo>
                  <a:cubicBezTo>
                    <a:pt x="5933261" y="0"/>
                    <a:pt x="5945633" y="5124"/>
                    <a:pt x="5954754" y="14246"/>
                  </a:cubicBezTo>
                  <a:cubicBezTo>
                    <a:pt x="5963876" y="23367"/>
                    <a:pt x="5969000" y="35739"/>
                    <a:pt x="5969000" y="48638"/>
                  </a:cubicBezTo>
                  <a:lnTo>
                    <a:pt x="5969000" y="1856362"/>
                  </a:lnTo>
                  <a:cubicBezTo>
                    <a:pt x="5969000" y="1869261"/>
                    <a:pt x="5963876" y="1881633"/>
                    <a:pt x="5954754" y="1890754"/>
                  </a:cubicBezTo>
                  <a:cubicBezTo>
                    <a:pt x="5945633" y="1899876"/>
                    <a:pt x="5933261" y="1905000"/>
                    <a:pt x="5920362" y="1905000"/>
                  </a:cubicBezTo>
                  <a:lnTo>
                    <a:pt x="48638" y="1905000"/>
                  </a:lnTo>
                  <a:cubicBezTo>
                    <a:pt x="35739" y="1905000"/>
                    <a:pt x="23367" y="1899876"/>
                    <a:pt x="14246" y="1890754"/>
                  </a:cubicBezTo>
                  <a:cubicBezTo>
                    <a:pt x="5124" y="1881633"/>
                    <a:pt x="0" y="1869261"/>
                    <a:pt x="0" y="1856362"/>
                  </a:cubicBezTo>
                  <a:lnTo>
                    <a:pt x="0" y="48638"/>
                  </a:lnTo>
                  <a:cubicBezTo>
                    <a:pt x="0" y="35739"/>
                    <a:pt x="5124" y="23367"/>
                    <a:pt x="14246" y="14246"/>
                  </a:cubicBezTo>
                  <a:cubicBezTo>
                    <a:pt x="23367" y="5124"/>
                    <a:pt x="35739" y="0"/>
                    <a:pt x="48638" y="0"/>
                  </a:cubicBezTo>
                  <a:close/>
                </a:path>
              </a:pathLst>
            </a:custGeom>
            <a:solidFill>
              <a:srgbClr val="EEF3F7"/>
            </a:solidFill>
            <a:ln cap="sq">
              <a:noFill/>
              <a:prstDash val="solid"/>
              <a:miter/>
            </a:ln>
          </p:spPr>
        </p:sp>
        <p:sp>
          <p:nvSpPr>
            <p:cNvPr name="TextBox 16" id="16"/>
            <p:cNvSpPr txBox="true"/>
            <p:nvPr/>
          </p:nvSpPr>
          <p:spPr>
            <a:xfrm>
              <a:off x="0" y="9525"/>
              <a:ext cx="5969000" cy="18954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WITHIN</a:t>
              </a:r>
            </a:p>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Leave-one-run-out CV inside the scored day</a:t>
              </a:r>
            </a:p>
          </p:txBody>
        </p:sp>
      </p:grpSp>
      <p:sp>
        <p:nvSpPr>
          <p:cNvPr name="AutoShape 17" id="17"/>
          <p:cNvSpPr/>
          <p:nvPr/>
        </p:nvSpPr>
        <p:spPr>
          <a:xfrm>
            <a:off x="10287000" y="4143375"/>
            <a:ext cx="1714500" cy="1905000"/>
          </a:xfrm>
          <a:prstGeom prst="line">
            <a:avLst/>
          </a:prstGeom>
          <a:ln cap="flat" w="38100">
            <a:solidFill>
              <a:srgbClr val="EF6C2F"/>
            </a:solidFill>
            <a:prstDash val="solid"/>
            <a:headEnd type="none" len="sm" w="sm"/>
            <a:tailEnd type="none" len="sm" w="sm"/>
          </a:ln>
        </p:spPr>
      </p:sp>
      <p:grpSp>
        <p:nvGrpSpPr>
          <p:cNvPr name="Group 18" id="18"/>
          <p:cNvGrpSpPr/>
          <p:nvPr/>
        </p:nvGrpSpPr>
        <p:grpSpPr>
          <a:xfrm rot="0">
            <a:off x="12001500" y="5334000"/>
            <a:ext cx="4476750" cy="1428750"/>
            <a:chOff x="0" y="0"/>
            <a:chExt cx="5969000" cy="1905000"/>
          </a:xfrm>
        </p:grpSpPr>
        <p:sp>
          <p:nvSpPr>
            <p:cNvPr name="Freeform 19" id="19"/>
            <p:cNvSpPr/>
            <p:nvPr/>
          </p:nvSpPr>
          <p:spPr>
            <a:xfrm flipH="false" flipV="false" rot="0">
              <a:off x="0" y="0"/>
              <a:ext cx="5969000" cy="1905000"/>
            </a:xfrm>
            <a:custGeom>
              <a:avLst/>
              <a:gdLst/>
              <a:ahLst/>
              <a:cxnLst/>
              <a:rect r="r" b="b" t="t" l="l"/>
              <a:pathLst>
                <a:path h="1905000" w="5969000">
                  <a:moveTo>
                    <a:pt x="48638" y="0"/>
                  </a:moveTo>
                  <a:lnTo>
                    <a:pt x="5920362" y="0"/>
                  </a:lnTo>
                  <a:cubicBezTo>
                    <a:pt x="5933261" y="0"/>
                    <a:pt x="5945633" y="5124"/>
                    <a:pt x="5954754" y="14246"/>
                  </a:cubicBezTo>
                  <a:cubicBezTo>
                    <a:pt x="5963876" y="23367"/>
                    <a:pt x="5969000" y="35739"/>
                    <a:pt x="5969000" y="48638"/>
                  </a:cubicBezTo>
                  <a:lnTo>
                    <a:pt x="5969000" y="1856362"/>
                  </a:lnTo>
                  <a:cubicBezTo>
                    <a:pt x="5969000" y="1869261"/>
                    <a:pt x="5963876" y="1881633"/>
                    <a:pt x="5954754" y="1890754"/>
                  </a:cubicBezTo>
                  <a:cubicBezTo>
                    <a:pt x="5945633" y="1899876"/>
                    <a:pt x="5933261" y="1905000"/>
                    <a:pt x="5920362" y="1905000"/>
                  </a:cubicBezTo>
                  <a:lnTo>
                    <a:pt x="48638" y="1905000"/>
                  </a:lnTo>
                  <a:cubicBezTo>
                    <a:pt x="35739" y="1905000"/>
                    <a:pt x="23367" y="1899876"/>
                    <a:pt x="14246" y="1890754"/>
                  </a:cubicBezTo>
                  <a:cubicBezTo>
                    <a:pt x="5124" y="1881633"/>
                    <a:pt x="0" y="1869261"/>
                    <a:pt x="0" y="1856362"/>
                  </a:cubicBezTo>
                  <a:lnTo>
                    <a:pt x="0" y="48638"/>
                  </a:lnTo>
                  <a:cubicBezTo>
                    <a:pt x="0" y="35739"/>
                    <a:pt x="5124" y="23367"/>
                    <a:pt x="14246" y="14246"/>
                  </a:cubicBezTo>
                  <a:cubicBezTo>
                    <a:pt x="23367" y="5124"/>
                    <a:pt x="35739" y="0"/>
                    <a:pt x="48638" y="0"/>
                  </a:cubicBezTo>
                  <a:close/>
                </a:path>
              </a:pathLst>
            </a:custGeom>
            <a:solidFill>
              <a:srgbClr val="EF6C2F"/>
            </a:solidFill>
            <a:ln cap="sq">
              <a:noFill/>
              <a:prstDash val="solid"/>
              <a:miter/>
            </a:ln>
          </p:spPr>
        </p:sp>
        <p:sp>
          <p:nvSpPr>
            <p:cNvPr name="TextBox 20" id="20"/>
            <p:cNvSpPr txBox="true"/>
            <p:nvPr/>
          </p:nvSpPr>
          <p:spPr>
            <a:xfrm>
              <a:off x="0" y="9525"/>
              <a:ext cx="5969000" cy="18954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FFFFFF"/>
                  </a:solidFill>
                  <a:latin typeface="Source Sans 3 Bold"/>
                  <a:ea typeface="Source Sans 3 Bold"/>
                  <a:cs typeface="Source Sans 3 Bold"/>
                  <a:sym typeface="Source Sans 3 Bold"/>
                </a:rPr>
                <a:t>CROSS</a:t>
              </a:r>
            </a:p>
            <a:p>
              <a:pPr algn="ctr" marL="0" indent="0" lvl="0">
                <a:lnSpc>
                  <a:spcPts val="2070"/>
                </a:lnSpc>
                <a:spcBef>
                  <a:spcPct val="0"/>
                </a:spcBef>
              </a:pPr>
              <a:r>
                <a:rPr lang="en-US" b="true" sz="1800" strike="noStrike" u="none">
                  <a:solidFill>
                    <a:srgbClr val="FFFFFF"/>
                  </a:solidFill>
                  <a:latin typeface="Source Sans 3 Bold"/>
                  <a:ea typeface="Source Sans 3 Bold"/>
                  <a:cs typeface="Source Sans 3 Bold"/>
                  <a:sym typeface="Source Sans 3 Bold"/>
                </a:rPr>
                <a:t>Trained on the earlier day, scores every trial</a:t>
              </a:r>
            </a:p>
          </p:txBody>
        </p:sp>
      </p:grpSp>
      <p:sp>
        <p:nvSpPr>
          <p:cNvPr name="TextBox 21" id="21"/>
          <p:cNvSpPr txBox="true"/>
          <p:nvPr/>
        </p:nvSpPr>
        <p:spPr>
          <a:xfrm rot="0">
            <a:off x="2857500" y="7781925"/>
            <a:ext cx="12573000" cy="837247"/>
          </a:xfrm>
          <a:prstGeom prst="rect">
            <a:avLst/>
          </a:prstGeom>
        </p:spPr>
        <p:txBody>
          <a:bodyPr anchor="t" rtlCol="false" tIns="0" lIns="0" bIns="0" rIns="0">
            <a:spAutoFit/>
          </a:bodyPr>
          <a:lstStyle/>
          <a:p>
            <a:pPr algn="ctr" marL="0" indent="0" lvl="0">
              <a:lnSpc>
                <a:spcPts val="3442"/>
              </a:lnSpc>
              <a:spcBef>
                <a:spcPct val="0"/>
              </a:spcBef>
            </a:pPr>
            <a:r>
              <a:rPr lang="en-US" sz="2550" strike="noStrike" u="none">
                <a:solidFill>
                  <a:srgbClr val="0B1F3A"/>
                </a:solidFill>
                <a:latin typeface="Source Sans 3"/>
                <a:ea typeface="Source Sans 3"/>
                <a:cs typeface="Source Sans 3"/>
                <a:sym typeface="Source Sans 3"/>
              </a:rPr>
              <a:t>Matched training size (20 class-stratified subsamples) · AUC scored run by run on identical trials · shuffled labels give AUC 0.502 / 0.501 — no leakage.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47750" y="714375"/>
            <a:ext cx="14287500" cy="641032"/>
          </a:xfrm>
          <a:prstGeom prst="rect">
            <a:avLst/>
          </a:prstGeom>
        </p:spPr>
        <p:txBody>
          <a:bodyPr anchor="t" rtlCol="false" tIns="0" lIns="0" bIns="0" rIns="0">
            <a:spAutoFit/>
          </a:bodyPr>
          <a:lstStyle/>
          <a:p>
            <a:pPr algn="l">
              <a:lnSpc>
                <a:spcPts val="4882"/>
              </a:lnSpc>
            </a:pPr>
            <a:r>
              <a:rPr lang="en-US" sz="4650" b="true">
                <a:solidFill>
                  <a:srgbClr val="0B1F3A"/>
                </a:solidFill>
                <a:latin typeface="League Spartan"/>
                <a:ea typeface="League Spartan"/>
                <a:cs typeface="League Spartan"/>
                <a:sym typeface="League Spartan"/>
              </a:rPr>
              <a:t>Drift we can see before decoding</a:t>
            </a:r>
          </a:p>
        </p:txBody>
      </p:sp>
      <p:grpSp>
        <p:nvGrpSpPr>
          <p:cNvPr name="Group 3" id="3"/>
          <p:cNvGrpSpPr/>
          <p:nvPr/>
        </p:nvGrpSpPr>
        <p:grpSpPr>
          <a:xfrm rot="0">
            <a:off x="1047750" y="1584008"/>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a:ln cap="sq">
              <a:noFill/>
              <a:prstDash val="solid"/>
              <a:miter/>
            </a:ln>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1793558"/>
            <a:ext cx="14287500" cy="273367"/>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5F6F7F"/>
                </a:solidFill>
                <a:latin typeface="Source Sans 3"/>
                <a:ea typeface="Source Sans 3"/>
                <a:cs typeface="Source Sans 3"/>
                <a:sym typeface="Source Sans 3"/>
              </a:rPr>
              <a:t>No labels, no decoder: the overall power level moves between days, but the class pattern on the head stays.</a:t>
            </a:r>
          </a:p>
        </p:txBody>
      </p:sp>
      <p:sp>
        <p:nvSpPr>
          <p:cNvPr name="TextBox 7" id="7"/>
          <p:cNvSpPr txBox="true"/>
          <p:nvPr/>
        </p:nvSpPr>
        <p:spPr>
          <a:xfrm rot="0">
            <a:off x="11715750" y="6638925"/>
            <a:ext cx="5715000" cy="2271713"/>
          </a:xfrm>
          <a:prstGeom prst="rect">
            <a:avLst/>
          </a:prstGeom>
        </p:spPr>
        <p:txBody>
          <a:bodyPr anchor="t" rtlCol="false" tIns="0" lIns="0" bIns="0" rIns="0">
            <a:spAutoFit/>
          </a:bodyPr>
          <a:lstStyle/>
          <a:p>
            <a:pPr algn="ctr" marL="0" indent="0" lvl="0">
              <a:lnSpc>
                <a:spcPts val="3037"/>
              </a:lnSpc>
              <a:spcBef>
                <a:spcPct val="0"/>
              </a:spcBef>
            </a:pPr>
            <a:r>
              <a:rPr lang="en-US" b="true" sz="2250" strike="noStrike" u="none">
                <a:solidFill>
                  <a:srgbClr val="0B1F3A"/>
                </a:solidFill>
                <a:latin typeface="Source Sans 3 Bold"/>
                <a:ea typeface="Source Sans 3 Bold"/>
                <a:cs typeface="Source Sans 3 Bold"/>
                <a:sym typeface="Source Sans 3 Bold"/>
              </a:rPr>
              <a:t>Within-session AUC by day</a:t>
            </a:r>
          </a:p>
          <a:p>
            <a:pPr algn="ctr" marL="0" indent="0" lvl="0">
              <a:lnSpc>
                <a:spcPts val="3037"/>
              </a:lnSpc>
              <a:spcBef>
                <a:spcPct val="0"/>
              </a:spcBef>
            </a:pPr>
            <a:r>
              <a:rPr lang="en-US" b="true" sz="2250" strike="noStrike" u="none">
                <a:solidFill>
                  <a:srgbClr val="0B1F3A"/>
                </a:solidFill>
                <a:latin typeface="Source Sans 3 Bold"/>
                <a:ea typeface="Source Sans 3 Bold"/>
                <a:cs typeface="Source Sans 3 Bold"/>
                <a:sym typeface="Source Sans 3 Bold"/>
              </a:rPr>
              <a:t>S1 0.73 · S2 0.65</a:t>
            </a:r>
          </a:p>
          <a:p>
            <a:pPr algn="ctr" marL="0" indent="0" lvl="0">
              <a:lnSpc>
                <a:spcPts val="3037"/>
              </a:lnSpc>
              <a:spcBef>
                <a:spcPct val="0"/>
              </a:spcBef>
            </a:pPr>
            <a:r>
              <a:rPr lang="en-US" b="true" sz="2250" strike="noStrike" u="none">
                <a:solidFill>
                  <a:srgbClr val="0B1F3A"/>
                </a:solidFill>
                <a:latin typeface="Source Sans 3 Bold"/>
                <a:ea typeface="Source Sans 3 Bold"/>
                <a:cs typeface="Source Sans 3 Bold"/>
                <a:sym typeface="Source Sans 3 Bold"/>
              </a:rPr>
              <a:t>S3 0.90 · S4 0.84 · S5 0.89</a:t>
            </a:r>
          </a:p>
          <a:p>
            <a:pPr algn="ctr" marL="0" indent="0" lvl="0">
              <a:lnSpc>
                <a:spcPts val="3037"/>
              </a:lnSpc>
              <a:spcBef>
                <a:spcPct val="0"/>
              </a:spcBef>
            </a:pPr>
          </a:p>
          <a:p>
            <a:pPr algn="ctr" marL="0" indent="0" lvl="0">
              <a:lnSpc>
                <a:spcPts val="3037"/>
              </a:lnSpc>
              <a:spcBef>
                <a:spcPct val="0"/>
              </a:spcBef>
            </a:pPr>
            <a:r>
              <a:rPr lang="en-US" b="true" sz="2250" strike="noStrike" u="none">
                <a:solidFill>
                  <a:srgbClr val="0B1F3A"/>
                </a:solidFill>
                <a:latin typeface="Source Sans 3 Bold"/>
                <a:ea typeface="Source Sans 3 Bold"/>
                <a:cs typeface="Source Sans 3 Bold"/>
                <a:sym typeface="Source Sans 3 Bold"/>
              </a:rPr>
              <a:t>Decoders across days</a:t>
            </a:r>
          </a:p>
          <a:p>
            <a:pPr algn="ctr" marL="0" indent="0" lvl="0">
              <a:lnSpc>
                <a:spcPts val="3037"/>
              </a:lnSpc>
              <a:spcBef>
                <a:spcPct val="0"/>
              </a:spcBef>
            </a:pPr>
            <a:r>
              <a:rPr lang="en-US" b="true" sz="2250" strike="noStrike" u="none">
                <a:solidFill>
                  <a:srgbClr val="0B1F3A"/>
                </a:solidFill>
                <a:latin typeface="Source Sans 3 Bold"/>
                <a:ea typeface="Source Sans 3 Bold"/>
                <a:cs typeface="Source Sans 3 Bold"/>
                <a:sym typeface="Source Sans 3 Bold"/>
              </a:rPr>
              <a:t>cosine similarity 0.63–0.84</a:t>
            </a:r>
          </a:p>
        </p:txBody>
      </p:sp>
      <p:sp>
        <p:nvSpPr>
          <p:cNvPr name="Freeform 8" id="8" descr="Mu power change vs session 1 per subject, and within-session AUC per session"/>
          <p:cNvSpPr/>
          <p:nvPr/>
        </p:nvSpPr>
        <p:spPr>
          <a:xfrm flipH="false" flipV="false" rot="0">
            <a:off x="1047750" y="2333625"/>
            <a:ext cx="16192500" cy="3867150"/>
          </a:xfrm>
          <a:custGeom>
            <a:avLst/>
            <a:gdLst/>
            <a:ahLst/>
            <a:cxnLst/>
            <a:rect r="r" b="b" t="t" l="l"/>
            <a:pathLst>
              <a:path h="3867150" w="16192500">
                <a:moveTo>
                  <a:pt x="0" y="0"/>
                </a:moveTo>
                <a:lnTo>
                  <a:pt x="16192500" y="0"/>
                </a:lnTo>
                <a:lnTo>
                  <a:pt x="16192500" y="3867150"/>
                </a:lnTo>
                <a:lnTo>
                  <a:pt x="0" y="3867150"/>
                </a:lnTo>
                <a:lnTo>
                  <a:pt x="0" y="0"/>
                </a:lnTo>
                <a:close/>
              </a:path>
            </a:pathLst>
          </a:custGeom>
          <a:blipFill>
            <a:blip r:embed="rId3"/>
            <a:stretch>
              <a:fillRect l="-15" t="0" r="-15" b="0"/>
            </a:stretch>
          </a:blipFill>
        </p:spPr>
      </p:sp>
      <p:sp>
        <p:nvSpPr>
          <p:cNvPr name="Freeform 9" id="9" descr="Mu ERD right minus left contrast on the head for sessions 1 to 5"/>
          <p:cNvSpPr/>
          <p:nvPr/>
        </p:nvSpPr>
        <p:spPr>
          <a:xfrm flipH="false" flipV="false" rot="0">
            <a:off x="1047750" y="6381750"/>
            <a:ext cx="10287000" cy="2886075"/>
          </a:xfrm>
          <a:custGeom>
            <a:avLst/>
            <a:gdLst/>
            <a:ahLst/>
            <a:cxnLst/>
            <a:rect r="r" b="b" t="t" l="l"/>
            <a:pathLst>
              <a:path h="2886075" w="10287000">
                <a:moveTo>
                  <a:pt x="0" y="0"/>
                </a:moveTo>
                <a:lnTo>
                  <a:pt x="10287000" y="0"/>
                </a:lnTo>
                <a:lnTo>
                  <a:pt x="10287000" y="2886075"/>
                </a:lnTo>
                <a:lnTo>
                  <a:pt x="0" y="2886075"/>
                </a:lnTo>
                <a:lnTo>
                  <a:pt x="0" y="0"/>
                </a:lnTo>
                <a:close/>
              </a:path>
            </a:pathLst>
          </a:custGeom>
          <a:blipFill>
            <a:blip r:embed="rId4"/>
            <a:stretch>
              <a:fillRect l="-99" t="0" r="-99" b="0"/>
            </a:stretch>
          </a:blipFill>
        </p:spPr>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47750" y="714375"/>
            <a:ext cx="14287500" cy="641032"/>
          </a:xfrm>
          <a:prstGeom prst="rect">
            <a:avLst/>
          </a:prstGeom>
        </p:spPr>
        <p:txBody>
          <a:bodyPr anchor="t" rtlCol="false" tIns="0" lIns="0" bIns="0" rIns="0">
            <a:spAutoFit/>
          </a:bodyPr>
          <a:lstStyle/>
          <a:p>
            <a:pPr algn="l">
              <a:lnSpc>
                <a:spcPts val="4882"/>
              </a:lnSpc>
            </a:pPr>
            <a:r>
              <a:rPr lang="en-US" sz="4650" b="true">
                <a:solidFill>
                  <a:srgbClr val="0B1F3A"/>
                </a:solidFill>
                <a:latin typeface="League Spartan"/>
                <a:ea typeface="League Spartan"/>
                <a:cs typeface="League Spartan"/>
                <a:sym typeface="League Spartan"/>
              </a:rPr>
              <a:t>H1: Does performance drop on a new day?</a:t>
            </a:r>
          </a:p>
        </p:txBody>
      </p:sp>
      <p:grpSp>
        <p:nvGrpSpPr>
          <p:cNvPr name="Group 3" id="3"/>
          <p:cNvGrpSpPr/>
          <p:nvPr/>
        </p:nvGrpSpPr>
        <p:grpSpPr>
          <a:xfrm rot="0">
            <a:off x="1047750" y="1584008"/>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a:ln cap="sq">
              <a:noFill/>
              <a:prstDash val="solid"/>
              <a:miter/>
            </a:ln>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143000" y="3152775"/>
            <a:ext cx="9906000" cy="2107406"/>
          </a:xfrm>
          <a:prstGeom prst="rect">
            <a:avLst/>
          </a:prstGeom>
        </p:spPr>
        <p:txBody>
          <a:bodyPr anchor="t" rtlCol="false" tIns="0" lIns="0" bIns="0" rIns="0">
            <a:spAutoFit/>
          </a:bodyPr>
          <a:lstStyle/>
          <a:p>
            <a:pPr algn="l">
              <a:lnSpc>
                <a:spcPts val="8051"/>
              </a:lnSpc>
            </a:pPr>
            <a:r>
              <a:rPr lang="en-US" sz="8475" b="true">
                <a:solidFill>
                  <a:srgbClr val="0B1F3A"/>
                </a:solidFill>
                <a:latin typeface="League Spartan"/>
                <a:ea typeface="League Spartan"/>
                <a:cs typeface="League Spartan"/>
                <a:sym typeface="League Spartan"/>
              </a:rPr>
              <a:t>NO MEASURABLE</a:t>
            </a:r>
          </a:p>
          <a:p>
            <a:pPr algn="l">
              <a:lnSpc>
                <a:spcPts val="8051"/>
              </a:lnSpc>
            </a:pPr>
            <a:r>
              <a:rPr lang="en-US" sz="8475" b="true">
                <a:solidFill>
                  <a:srgbClr val="0B1F3A"/>
                </a:solidFill>
                <a:latin typeface="League Spartan"/>
                <a:ea typeface="League Spartan"/>
                <a:cs typeface="League Spartan"/>
                <a:sym typeface="League Spartan"/>
              </a:rPr>
              <a:t>AUC DRIFT</a:t>
            </a:r>
          </a:p>
        </p:txBody>
      </p:sp>
      <p:grpSp>
        <p:nvGrpSpPr>
          <p:cNvPr name="Group 7" id="7"/>
          <p:cNvGrpSpPr/>
          <p:nvPr/>
        </p:nvGrpSpPr>
        <p:grpSpPr>
          <a:xfrm rot="0">
            <a:off x="12192000" y="3190875"/>
            <a:ext cx="4762500" cy="4000500"/>
            <a:chOff x="0" y="0"/>
            <a:chExt cx="6350000" cy="5334000"/>
          </a:xfrm>
        </p:grpSpPr>
        <p:sp>
          <p:nvSpPr>
            <p:cNvPr name="Freeform 8" id="8"/>
            <p:cNvSpPr/>
            <p:nvPr/>
          </p:nvSpPr>
          <p:spPr>
            <a:xfrm flipH="false" flipV="false" rot="0">
              <a:off x="0" y="0"/>
              <a:ext cx="6350000" cy="5334000"/>
            </a:xfrm>
            <a:custGeom>
              <a:avLst/>
              <a:gdLst/>
              <a:ahLst/>
              <a:cxnLst/>
              <a:rect r="r" b="b" t="t" l="l"/>
              <a:pathLst>
                <a:path h="5334000" w="6350000">
                  <a:moveTo>
                    <a:pt x="0" y="0"/>
                  </a:moveTo>
                  <a:lnTo>
                    <a:pt x="6350000" y="0"/>
                  </a:lnTo>
                  <a:lnTo>
                    <a:pt x="6350000" y="5334000"/>
                  </a:lnTo>
                  <a:lnTo>
                    <a:pt x="0" y="5334000"/>
                  </a:lnTo>
                  <a:close/>
                </a:path>
              </a:pathLst>
            </a:custGeom>
            <a:solidFill>
              <a:srgbClr val="EF6C2F"/>
            </a:solidFill>
            <a:ln cap="sq">
              <a:noFill/>
              <a:prstDash val="solid"/>
              <a:miter/>
            </a:ln>
          </p:spPr>
        </p:sp>
        <p:sp>
          <p:nvSpPr>
            <p:cNvPr name="TextBox 9" id="9"/>
            <p:cNvSpPr txBox="true"/>
            <p:nvPr/>
          </p:nvSpPr>
          <p:spPr>
            <a:xfrm>
              <a:off x="0" y="-38100"/>
              <a:ext cx="6350000" cy="5372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12763500" y="4038600"/>
            <a:ext cx="3619500" cy="778669"/>
          </a:xfrm>
          <a:prstGeom prst="rect">
            <a:avLst/>
          </a:prstGeom>
        </p:spPr>
        <p:txBody>
          <a:bodyPr anchor="t" rtlCol="false" tIns="0" lIns="0" bIns="0" rIns="0">
            <a:spAutoFit/>
          </a:bodyPr>
          <a:lstStyle/>
          <a:p>
            <a:pPr algn="ctr" marL="0" indent="0" lvl="0">
              <a:lnSpc>
                <a:spcPts val="3063"/>
              </a:lnSpc>
              <a:spcBef>
                <a:spcPct val="0"/>
              </a:spcBef>
            </a:pPr>
            <a:r>
              <a:rPr lang="en-US" b="true" sz="3225" strike="noStrike" u="none">
                <a:solidFill>
                  <a:srgbClr val="FFFFFF"/>
                </a:solidFill>
                <a:latin typeface="League Spartan"/>
                <a:ea typeface="League Spartan"/>
                <a:cs typeface="League Spartan"/>
                <a:sym typeface="League Spartan"/>
              </a:rPr>
              <a:t>H1a &amp; H1b</a:t>
            </a:r>
          </a:p>
          <a:p>
            <a:pPr algn="ctr" marL="0" indent="0" lvl="0">
              <a:lnSpc>
                <a:spcPts val="3063"/>
              </a:lnSpc>
              <a:spcBef>
                <a:spcPct val="0"/>
              </a:spcBef>
            </a:pPr>
            <a:r>
              <a:rPr lang="en-US" b="true" sz="3225" strike="noStrike" u="none">
                <a:solidFill>
                  <a:srgbClr val="FFFFFF"/>
                </a:solidFill>
                <a:latin typeface="League Spartan"/>
                <a:ea typeface="League Spartan"/>
                <a:cs typeface="League Spartan"/>
                <a:sym typeface="League Spartan"/>
              </a:rPr>
              <a:t>NOT SUPPORTED</a:t>
            </a:r>
          </a:p>
        </p:txBody>
      </p:sp>
      <p:sp>
        <p:nvSpPr>
          <p:cNvPr name="TextBox 11" id="11"/>
          <p:cNvSpPr txBox="true"/>
          <p:nvPr/>
        </p:nvSpPr>
        <p:spPr>
          <a:xfrm rot="0">
            <a:off x="1143000" y="5876925"/>
            <a:ext cx="10477500" cy="2103120"/>
          </a:xfrm>
          <a:prstGeom prst="rect">
            <a:avLst/>
          </a:prstGeom>
        </p:spPr>
        <p:txBody>
          <a:bodyPr anchor="t" rtlCol="false" tIns="0" lIns="0" bIns="0" rIns="0">
            <a:spAutoFit/>
          </a:bodyPr>
          <a:lstStyle/>
          <a:p>
            <a:pPr algn="l" marL="0" indent="0" lvl="0">
              <a:lnSpc>
                <a:spcPts val="2835"/>
              </a:lnSpc>
              <a:spcBef>
                <a:spcPct val="0"/>
              </a:spcBef>
            </a:pPr>
            <a:r>
              <a:rPr lang="en-US" sz="2100" strike="noStrike" u="none">
                <a:solidFill>
                  <a:srgbClr val="0B1F3A"/>
                </a:solidFill>
                <a:latin typeface="Source Sans 3"/>
                <a:ea typeface="Source Sans 3"/>
                <a:cs typeface="Source Sans 3"/>
                <a:sym typeface="Source Sans 3"/>
              </a:rPr>
              <a:t>H1a  S1→S2: within 0.677 vs cross 0.656 · drift −0.002 · p = 0.55</a:t>
            </a:r>
          </a:p>
          <a:p>
            <a:pPr algn="l" marL="0" indent="0" lvl="0">
              <a:lnSpc>
                <a:spcPts val="2835"/>
              </a:lnSpc>
              <a:spcBef>
                <a:spcPct val="0"/>
              </a:spcBef>
            </a:pPr>
            <a:r>
              <a:rPr lang="en-US" sz="2100" strike="noStrike" u="none">
                <a:solidFill>
                  <a:srgbClr val="0B1F3A"/>
                </a:solidFill>
                <a:latin typeface="Source Sans 3"/>
                <a:ea typeface="Source Sans 3"/>
                <a:cs typeface="Source Sans 3"/>
                <a:sym typeface="Source Sans 3"/>
              </a:rPr>
              <a:t>H1b  S3→S4/S5: within 0.872 vs cross 0.869 · drift +0.003 · p = 0.08</a:t>
            </a:r>
          </a:p>
          <a:p>
            <a:pPr algn="l" marL="0" indent="0" lvl="0">
              <a:lnSpc>
                <a:spcPts val="2835"/>
              </a:lnSpc>
              <a:spcBef>
                <a:spcPct val="0"/>
              </a:spcBef>
            </a:pPr>
            <a:r>
              <a:rPr lang="en-US" sz="2100" strike="noStrike" u="none">
                <a:solidFill>
                  <a:srgbClr val="0B1F3A"/>
                </a:solidFill>
                <a:latin typeface="Source Sans 3"/>
                <a:ea typeface="Source Sans 3"/>
                <a:cs typeface="Source Sans 3"/>
                <a:sym typeface="Source Sans 3"/>
              </a:rPr>
              <a:t>Cross-session decoding above chance in 7/9 subjects (both transfers)</a:t>
            </a:r>
          </a:p>
          <a:p>
            <a:pPr algn="l" marL="0" indent="0" lvl="0">
              <a:lnSpc>
                <a:spcPts val="2835"/>
              </a:lnSpc>
              <a:spcBef>
                <a:spcPct val="0"/>
              </a:spcBef>
            </a:pPr>
          </a:p>
          <a:p>
            <a:pPr algn="l" marL="0" indent="0" lvl="0">
              <a:lnSpc>
                <a:spcPts val="2835"/>
              </a:lnSpc>
              <a:spcBef>
                <a:spcPct val="0"/>
              </a:spcBef>
            </a:pPr>
            <a:r>
              <a:rPr lang="en-US" sz="2100" strike="noStrike" u="none">
                <a:solidFill>
                  <a:srgbClr val="0B1F3A"/>
                </a:solidFill>
                <a:latin typeface="Source Sans 3"/>
                <a:ea typeface="Source Sans 3"/>
                <a:cs typeface="Source Sans 3"/>
                <a:sym typeface="Source Sans 3"/>
              </a:rPr>
              <a:t>What does drift is the threshold: balanced accuracy drops slightly in feedback sessions (+0.011, p = 0.014).</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47750" y="695325"/>
            <a:ext cx="14287500" cy="660082"/>
          </a:xfrm>
          <a:prstGeom prst="rect">
            <a:avLst/>
          </a:prstGeom>
        </p:spPr>
        <p:txBody>
          <a:bodyPr anchor="t" rtlCol="false" tIns="0" lIns="0" bIns="0" rIns="0">
            <a:spAutoFit/>
          </a:bodyPr>
          <a:lstStyle/>
          <a:p>
            <a:pPr algn="l">
              <a:lnSpc>
                <a:spcPts val="4882"/>
              </a:lnSpc>
            </a:pPr>
            <a:r>
              <a:rPr lang="en-US" sz="4650" b="true">
                <a:solidFill>
                  <a:srgbClr val="0B1F3A"/>
                </a:solidFill>
                <a:latin typeface="Arimo Bold"/>
                <a:ea typeface="Arimo Bold"/>
                <a:cs typeface="Arimo Bold"/>
                <a:sym typeface="Arimo Bold"/>
              </a:rPr>
              <a:t>H1 subject by subject</a:t>
            </a:r>
          </a:p>
        </p:txBody>
      </p:sp>
      <p:grpSp>
        <p:nvGrpSpPr>
          <p:cNvPr name="Group 3" id="3"/>
          <p:cNvGrpSpPr/>
          <p:nvPr/>
        </p:nvGrpSpPr>
        <p:grpSpPr>
          <a:xfrm rot="0">
            <a:off x="1047750" y="1581150"/>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sp>
        <p:nvSpPr>
          <p:cNvPr name="Freeform 6" id="6" descr="Within vs cross-session AUC and balanced accuracy per subject for S1 to S2 and S3 to S4/S5"/>
          <p:cNvSpPr/>
          <p:nvPr/>
        </p:nvSpPr>
        <p:spPr>
          <a:xfrm flipH="false" flipV="false" rot="0">
            <a:off x="952500" y="2047875"/>
            <a:ext cx="11525250" cy="7953375"/>
          </a:xfrm>
          <a:custGeom>
            <a:avLst/>
            <a:gdLst/>
            <a:ahLst/>
            <a:cxnLst/>
            <a:rect r="r" b="b" t="t" l="l"/>
            <a:pathLst>
              <a:path h="7953375" w="11525250">
                <a:moveTo>
                  <a:pt x="0" y="0"/>
                </a:moveTo>
                <a:lnTo>
                  <a:pt x="11525250" y="0"/>
                </a:lnTo>
                <a:lnTo>
                  <a:pt x="11525250" y="7953375"/>
                </a:lnTo>
                <a:lnTo>
                  <a:pt x="0" y="7953375"/>
                </a:lnTo>
                <a:lnTo>
                  <a:pt x="0" y="0"/>
                </a:lnTo>
                <a:close/>
              </a:path>
            </a:pathLst>
          </a:custGeom>
          <a:blipFill>
            <a:blip r:embed="rId3"/>
            <a:stretch>
              <a:fillRect l="-96" t="0" r="-96" b="0"/>
            </a:stretch>
          </a:blipFill>
        </p:spPr>
      </p:sp>
      <p:sp>
        <p:nvSpPr>
          <p:cNvPr name="TextBox 7" id="7"/>
          <p:cNvSpPr txBox="true"/>
          <p:nvPr/>
        </p:nvSpPr>
        <p:spPr>
          <a:xfrm rot="0">
            <a:off x="13049250" y="2809875"/>
            <a:ext cx="4476750" cy="3344228"/>
          </a:xfrm>
          <a:prstGeom prst="rect">
            <a:avLst/>
          </a:prstGeom>
        </p:spPr>
        <p:txBody>
          <a:bodyPr anchor="t" rtlCol="false" tIns="0" lIns="0" bIns="0" rIns="0">
            <a:spAutoFit/>
          </a:bodyPr>
          <a:lstStyle/>
          <a:p>
            <a:pPr algn="l">
              <a:lnSpc>
                <a:spcPts val="2632"/>
              </a:lnSpc>
            </a:pPr>
            <a:r>
              <a:rPr lang="en-US" sz="1950">
                <a:solidFill>
                  <a:srgbClr val="0B1F3A"/>
                </a:solidFill>
                <a:latin typeface="Arimo"/>
                <a:ea typeface="Arimo"/>
                <a:cs typeface="Arimo"/>
                <a:sym typeface="Arimo"/>
              </a:rPr>
              <a:t>Blue: decoder trained within the scored day</a:t>
            </a:r>
          </a:p>
          <a:p>
            <a:pPr algn="l">
              <a:lnSpc>
                <a:spcPts val="2632"/>
              </a:lnSpc>
            </a:pPr>
            <a:r>
              <a:rPr lang="en-US" sz="1950">
                <a:solidFill>
                  <a:srgbClr val="0B1F3A"/>
                </a:solidFill>
                <a:latin typeface="Arimo"/>
                <a:ea typeface="Arimo"/>
                <a:cs typeface="Arimo"/>
                <a:sym typeface="Arimo"/>
              </a:rPr>
              <a:t>Orange: decoder trained on the earlier day</a:t>
            </a:r>
          </a:p>
          <a:p>
            <a:pPr algn="l">
              <a:lnSpc>
                <a:spcPts val="2632"/>
              </a:lnSpc>
            </a:pPr>
            <a:r>
              <a:rPr lang="en-US" sz="1950">
                <a:solidFill>
                  <a:srgbClr val="0B1F3A"/>
                </a:solidFill>
                <a:latin typeface="Arimo"/>
                <a:ea typeface="Arimo"/>
                <a:cs typeface="Arimo"/>
                <a:sym typeface="Arimo"/>
              </a:rPr>
              <a:t>Red line = drop, green = gain</a:t>
            </a:r>
          </a:p>
          <a:p>
            <a:pPr algn="l">
              <a:lnSpc>
                <a:spcPts val="2632"/>
              </a:lnSpc>
            </a:pPr>
          </a:p>
          <a:p>
            <a:pPr algn="l">
              <a:lnSpc>
                <a:spcPts val="2632"/>
              </a:lnSpc>
            </a:pPr>
            <a:r>
              <a:rPr lang="en-US" sz="1950">
                <a:solidFill>
                  <a:srgbClr val="0B1F3A"/>
                </a:solidFill>
                <a:latin typeface="Arimo"/>
                <a:ea typeface="Arimo"/>
                <a:cs typeface="Arimo"/>
                <a:sym typeface="Arimo"/>
              </a:rPr>
              <a:t>Top: ROC AUC — no consistent drop.</a:t>
            </a:r>
          </a:p>
          <a:p>
            <a:pPr algn="l">
              <a:lnSpc>
                <a:spcPts val="2632"/>
              </a:lnSpc>
            </a:pPr>
            <a:r>
              <a:rPr lang="en-US" sz="1950">
                <a:solidFill>
                  <a:srgbClr val="0B1F3A"/>
                </a:solidFill>
                <a:latin typeface="Arimo"/>
                <a:ea typeface="Arimo"/>
                <a:cs typeface="Arimo"/>
                <a:sym typeface="Arimo"/>
              </a:rPr>
              <a:t>Bottom: balanced accuracy — mostly red in feedback sessions (p = 0.014): the scores shift, the ordering stays.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47750" y="714375"/>
            <a:ext cx="14287500" cy="641032"/>
          </a:xfrm>
          <a:prstGeom prst="rect">
            <a:avLst/>
          </a:prstGeom>
        </p:spPr>
        <p:txBody>
          <a:bodyPr anchor="t" rtlCol="false" tIns="0" lIns="0" bIns="0" rIns="0">
            <a:spAutoFit/>
          </a:bodyPr>
          <a:lstStyle/>
          <a:p>
            <a:pPr algn="l">
              <a:lnSpc>
                <a:spcPts val="4882"/>
              </a:lnSpc>
            </a:pPr>
            <a:r>
              <a:rPr lang="en-US" sz="4650" b="true">
                <a:solidFill>
                  <a:srgbClr val="0B1F3A"/>
                </a:solidFill>
                <a:latin typeface="League Spartan"/>
                <a:ea typeface="League Spartan"/>
                <a:cs typeface="League Spartan"/>
                <a:sym typeface="League Spartan"/>
              </a:rPr>
              <a:t>One subject, one decision line, three days</a:t>
            </a:r>
          </a:p>
        </p:txBody>
      </p:sp>
      <p:grpSp>
        <p:nvGrpSpPr>
          <p:cNvPr name="Group 3" id="3"/>
          <p:cNvGrpSpPr/>
          <p:nvPr/>
        </p:nvGrpSpPr>
        <p:grpSpPr>
          <a:xfrm rot="0">
            <a:off x="1047750" y="1584008"/>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a:ln cap="sq">
              <a:noFill/>
              <a:prstDash val="solid"/>
              <a:miter/>
            </a:ln>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1793558"/>
            <a:ext cx="14287500" cy="273367"/>
          </a:xfrm>
          <a:prstGeom prst="rect">
            <a:avLst/>
          </a:prstGeom>
        </p:spPr>
        <p:txBody>
          <a:bodyPr anchor="t" rtlCol="false" tIns="0" lIns="0" bIns="0" rIns="0">
            <a:spAutoFit/>
          </a:bodyPr>
          <a:lstStyle/>
          <a:p>
            <a:pPr algn="l">
              <a:lnSpc>
                <a:spcPts val="2242"/>
              </a:lnSpc>
            </a:pPr>
            <a:r>
              <a:rPr lang="en-US" sz="1725">
                <a:solidFill>
                  <a:srgbClr val="5F6F7F"/>
                </a:solidFill>
                <a:latin typeface="Source Sans 3"/>
                <a:ea typeface="Source Sans 3"/>
                <a:cs typeface="Source Sans 3"/>
                <a:sym typeface="Source Sans 3"/>
              </a:rPr>
              <a:t>Subject 7 · largest mu-power shift · decoder fitted on S3 only and kept fixed</a:t>
            </a:r>
          </a:p>
        </p:txBody>
      </p:sp>
      <p:sp>
        <p:nvSpPr>
          <p:cNvPr name="TextBox 7" id="7"/>
          <p:cNvSpPr txBox="true"/>
          <p:nvPr/>
        </p:nvSpPr>
        <p:spPr>
          <a:xfrm rot="0">
            <a:off x="2476500" y="8810625"/>
            <a:ext cx="13335000" cy="910590"/>
          </a:xfrm>
          <a:prstGeom prst="rect">
            <a:avLst/>
          </a:prstGeom>
        </p:spPr>
        <p:txBody>
          <a:bodyPr anchor="t" rtlCol="false" tIns="0" lIns="0" bIns="0" rIns="0">
            <a:spAutoFit/>
          </a:bodyPr>
          <a:lstStyle/>
          <a:p>
            <a:pPr algn="ctr">
              <a:lnSpc>
                <a:spcPts val="3645"/>
              </a:lnSpc>
            </a:pPr>
            <a:r>
              <a:rPr lang="en-US" sz="2700" b="true">
                <a:solidFill>
                  <a:srgbClr val="0B1F3A"/>
                </a:solidFill>
                <a:latin typeface="Source Sans 3 Bold"/>
                <a:ea typeface="Source Sans 3 Bold"/>
                <a:cs typeface="Source Sans 3 Bold"/>
                <a:sym typeface="Source Sans 3 Bold"/>
              </a:rPr>
              <a:t>Scores shift together; left/right ordering is kept. AUC stays, while fixed-threshold accuracy moves.</a:t>
            </a:r>
          </a:p>
        </p:txBody>
      </p:sp>
      <p:sp>
        <p:nvSpPr>
          <p:cNvPr name="Freeform 8" id="8" descr="Subject 7 trials in mu C3 vs mu C4 space for sessions 3, 4, 5 with a fixed decision line, raw and z-scored features"/>
          <p:cNvSpPr/>
          <p:nvPr/>
        </p:nvSpPr>
        <p:spPr>
          <a:xfrm flipH="false" flipV="false" rot="0">
            <a:off x="3905250" y="2238375"/>
            <a:ext cx="10477500" cy="6372225"/>
          </a:xfrm>
          <a:custGeom>
            <a:avLst/>
            <a:gdLst/>
            <a:ahLst/>
            <a:cxnLst/>
            <a:rect r="r" b="b" t="t" l="l"/>
            <a:pathLst>
              <a:path h="6372225" w="10477500">
                <a:moveTo>
                  <a:pt x="0" y="0"/>
                </a:moveTo>
                <a:lnTo>
                  <a:pt x="10477500" y="0"/>
                </a:lnTo>
                <a:lnTo>
                  <a:pt x="10477500" y="6372225"/>
                </a:lnTo>
                <a:lnTo>
                  <a:pt x="0" y="6372225"/>
                </a:lnTo>
                <a:lnTo>
                  <a:pt x="0" y="0"/>
                </a:lnTo>
                <a:close/>
              </a:path>
            </a:pathLst>
          </a:custGeom>
          <a:blipFill>
            <a:blip r:embed="rId3"/>
            <a:stretch>
              <a:fillRect l="-56" t="0" r="-56"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47750" y="714375"/>
            <a:ext cx="14287500" cy="641032"/>
          </a:xfrm>
          <a:prstGeom prst="rect">
            <a:avLst/>
          </a:prstGeom>
        </p:spPr>
        <p:txBody>
          <a:bodyPr anchor="t" rtlCol="false" tIns="0" lIns="0" bIns="0" rIns="0">
            <a:spAutoFit/>
          </a:bodyPr>
          <a:lstStyle/>
          <a:p>
            <a:pPr algn="l">
              <a:lnSpc>
                <a:spcPts val="4882"/>
              </a:lnSpc>
            </a:pPr>
            <a:r>
              <a:rPr lang="en-US" sz="4650" b="true">
                <a:solidFill>
                  <a:srgbClr val="0B1F3A"/>
                </a:solidFill>
                <a:latin typeface="League Spartan"/>
                <a:ea typeface="League Spartan"/>
                <a:cs typeface="League Spartan"/>
                <a:sym typeface="League Spartan"/>
              </a:rPr>
              <a:t>H2: Do the fixes reduce drift cost?</a:t>
            </a:r>
          </a:p>
        </p:txBody>
      </p:sp>
      <p:grpSp>
        <p:nvGrpSpPr>
          <p:cNvPr name="Group 3" id="3"/>
          <p:cNvGrpSpPr/>
          <p:nvPr/>
        </p:nvGrpSpPr>
        <p:grpSpPr>
          <a:xfrm rot="0">
            <a:off x="1047750" y="1584008"/>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a:ln cap="sq">
              <a:noFill/>
              <a:prstDash val="solid"/>
              <a:miter/>
            </a:ln>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1793558"/>
            <a:ext cx="14287500" cy="273367"/>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5F6F7F"/>
                </a:solidFill>
                <a:latin typeface="Source Sans 3"/>
                <a:ea typeface="Source Sans 3"/>
                <a:cs typeface="Source Sans 3"/>
                <a:sym typeface="Source Sans 3"/>
              </a:rPr>
              <a:t>Neither fix is supported — as expected when there is no AUC drift to remove.</a:t>
            </a:r>
          </a:p>
        </p:txBody>
      </p:sp>
      <p:grpSp>
        <p:nvGrpSpPr>
          <p:cNvPr name="Group 7" id="7"/>
          <p:cNvGrpSpPr/>
          <p:nvPr/>
        </p:nvGrpSpPr>
        <p:grpSpPr>
          <a:xfrm rot="0">
            <a:off x="1714500" y="2381250"/>
            <a:ext cx="6953250" cy="4539615"/>
            <a:chOff x="0" y="0"/>
            <a:chExt cx="9271000" cy="6052820"/>
          </a:xfrm>
        </p:grpSpPr>
        <p:grpSp>
          <p:nvGrpSpPr>
            <p:cNvPr name="Group 8" id="8"/>
            <p:cNvGrpSpPr/>
            <p:nvPr/>
          </p:nvGrpSpPr>
          <p:grpSpPr>
            <a:xfrm rot="0">
              <a:off x="0" y="0"/>
              <a:ext cx="9271000" cy="6052820"/>
              <a:chOff x="0" y="0"/>
              <a:chExt cx="9271000" cy="6052820"/>
            </a:xfrm>
          </p:grpSpPr>
          <p:sp>
            <p:nvSpPr>
              <p:cNvPr name="Freeform 9" id="9"/>
              <p:cNvSpPr/>
              <p:nvPr/>
            </p:nvSpPr>
            <p:spPr>
              <a:xfrm flipH="false" flipV="false" rot="0">
                <a:off x="0" y="0"/>
                <a:ext cx="9271000" cy="6052820"/>
              </a:xfrm>
              <a:custGeom>
                <a:avLst/>
                <a:gdLst/>
                <a:ahLst/>
                <a:cxnLst/>
                <a:rect r="r" b="b" t="t" l="l"/>
                <a:pathLst>
                  <a:path h="6052820" w="9271000">
                    <a:moveTo>
                      <a:pt x="0" y="0"/>
                    </a:moveTo>
                    <a:lnTo>
                      <a:pt x="9271000" y="0"/>
                    </a:lnTo>
                    <a:lnTo>
                      <a:pt x="9271000" y="6052820"/>
                    </a:lnTo>
                    <a:lnTo>
                      <a:pt x="0" y="6052820"/>
                    </a:lnTo>
                    <a:close/>
                  </a:path>
                </a:pathLst>
              </a:custGeom>
              <a:solidFill>
                <a:srgbClr val="EEF3F7"/>
              </a:solidFill>
              <a:ln cap="sq">
                <a:noFill/>
                <a:prstDash val="solid"/>
                <a:miter/>
              </a:ln>
            </p:spPr>
          </p:sp>
          <p:sp>
            <p:nvSpPr>
              <p:cNvPr name="TextBox 10" id="10"/>
              <p:cNvSpPr txBox="true"/>
              <p:nvPr/>
            </p:nvSpPr>
            <p:spPr>
              <a:xfrm>
                <a:off x="0" y="-38100"/>
                <a:ext cx="9271000" cy="609092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698500" y="565150"/>
              <a:ext cx="7874000" cy="669290"/>
            </a:xfrm>
            <a:prstGeom prst="rect">
              <a:avLst/>
            </a:prstGeom>
          </p:spPr>
          <p:txBody>
            <a:bodyPr anchor="t" rtlCol="false" tIns="0" lIns="0" bIns="0" rIns="0">
              <a:spAutoFit/>
            </a:bodyPr>
            <a:lstStyle/>
            <a:p>
              <a:pPr algn="l" marL="0" indent="0" lvl="0">
                <a:lnSpc>
                  <a:spcPts val="3780"/>
                </a:lnSpc>
                <a:spcBef>
                  <a:spcPct val="0"/>
                </a:spcBef>
              </a:pPr>
              <a:r>
                <a:rPr lang="en-US" b="true" sz="3600" strike="noStrike" u="none">
                  <a:solidFill>
                    <a:srgbClr val="0B1F3A"/>
                  </a:solidFill>
                  <a:latin typeface="League Spartan"/>
                  <a:ea typeface="League Spartan"/>
                  <a:cs typeface="League Spartan"/>
                  <a:sym typeface="League Spartan"/>
                </a:rPr>
                <a:t>C · Baseline-relative</a:t>
              </a:r>
            </a:p>
          </p:txBody>
        </p:sp>
        <p:sp>
          <p:nvSpPr>
            <p:cNvPr name="TextBox 12" id="12"/>
            <p:cNvSpPr txBox="true"/>
            <p:nvPr/>
          </p:nvSpPr>
          <p:spPr>
            <a:xfrm rot="0">
              <a:off x="698500" y="1946275"/>
              <a:ext cx="7874000" cy="777875"/>
            </a:xfrm>
            <a:prstGeom prst="rect">
              <a:avLst/>
            </a:prstGeom>
          </p:spPr>
          <p:txBody>
            <a:bodyPr anchor="t" rtlCol="false" tIns="0" lIns="0" bIns="0" rIns="0">
              <a:spAutoFit/>
            </a:bodyPr>
            <a:lstStyle/>
            <a:p>
              <a:pPr algn="l">
                <a:lnSpc>
                  <a:spcPts val="4132"/>
                </a:lnSpc>
              </a:pPr>
              <a:r>
                <a:rPr lang="en-US" sz="4350" b="true">
                  <a:solidFill>
                    <a:srgbClr val="EF6C2F"/>
                  </a:solidFill>
                  <a:latin typeface="League Spartan"/>
                  <a:ea typeface="League Spartan"/>
                  <a:cs typeface="League Spartan"/>
                  <a:sym typeface="League Spartan"/>
                </a:rPr>
                <a:t>NOT SUPPORTED</a:t>
              </a:r>
            </a:p>
          </p:txBody>
        </p:sp>
        <p:sp>
          <p:nvSpPr>
            <p:cNvPr name="TextBox 13" id="13"/>
            <p:cNvSpPr txBox="true"/>
            <p:nvPr/>
          </p:nvSpPr>
          <p:spPr>
            <a:xfrm rot="0">
              <a:off x="698500" y="3155950"/>
              <a:ext cx="7874000" cy="1318260"/>
            </a:xfrm>
            <a:prstGeom prst="rect">
              <a:avLst/>
            </a:prstGeom>
          </p:spPr>
          <p:txBody>
            <a:bodyPr anchor="t" rtlCol="false" tIns="0" lIns="0" bIns="0" rIns="0">
              <a:spAutoFit/>
            </a:bodyPr>
            <a:lstStyle/>
            <a:p>
              <a:pPr algn="l" marL="0" indent="0" lvl="0">
                <a:lnSpc>
                  <a:spcPts val="2632"/>
                </a:lnSpc>
                <a:spcBef>
                  <a:spcPct val="0"/>
                </a:spcBef>
              </a:pPr>
              <a:r>
                <a:rPr lang="en-US" sz="2025" strike="noStrike" u="none">
                  <a:solidFill>
                    <a:srgbClr val="5F6F7F"/>
                  </a:solidFill>
                  <a:latin typeface="Source Sans 3"/>
                  <a:ea typeface="Source Sans 3"/>
                  <a:cs typeface="Source Sans 3"/>
                  <a:sym typeface="Source Sans 3"/>
                </a:rPr>
                <a:t>Made decoding worse: cross-session AUC −0.066 (p = 0.004), within-session −0.11. A 1-s single-trial baseline adds noise.</a:t>
              </a:r>
            </a:p>
          </p:txBody>
        </p:sp>
      </p:grpSp>
      <p:grpSp>
        <p:nvGrpSpPr>
          <p:cNvPr name="Group 14" id="14"/>
          <p:cNvGrpSpPr/>
          <p:nvPr/>
        </p:nvGrpSpPr>
        <p:grpSpPr>
          <a:xfrm rot="0">
            <a:off x="9620250" y="2381250"/>
            <a:ext cx="6953250" cy="4539615"/>
            <a:chOff x="0" y="0"/>
            <a:chExt cx="9271000" cy="6052820"/>
          </a:xfrm>
        </p:grpSpPr>
        <p:grpSp>
          <p:nvGrpSpPr>
            <p:cNvPr name="Group 15" id="15"/>
            <p:cNvGrpSpPr/>
            <p:nvPr/>
          </p:nvGrpSpPr>
          <p:grpSpPr>
            <a:xfrm rot="0">
              <a:off x="0" y="0"/>
              <a:ext cx="9271000" cy="6052820"/>
              <a:chOff x="0" y="0"/>
              <a:chExt cx="9271000" cy="6052820"/>
            </a:xfrm>
          </p:grpSpPr>
          <p:sp>
            <p:nvSpPr>
              <p:cNvPr name="Freeform 16" id="16"/>
              <p:cNvSpPr/>
              <p:nvPr/>
            </p:nvSpPr>
            <p:spPr>
              <a:xfrm flipH="false" flipV="false" rot="0">
                <a:off x="0" y="0"/>
                <a:ext cx="9271000" cy="6052820"/>
              </a:xfrm>
              <a:custGeom>
                <a:avLst/>
                <a:gdLst/>
                <a:ahLst/>
                <a:cxnLst/>
                <a:rect r="r" b="b" t="t" l="l"/>
                <a:pathLst>
                  <a:path h="6052820" w="9271000">
                    <a:moveTo>
                      <a:pt x="0" y="0"/>
                    </a:moveTo>
                    <a:lnTo>
                      <a:pt x="9271000" y="0"/>
                    </a:lnTo>
                    <a:lnTo>
                      <a:pt x="9271000" y="6052820"/>
                    </a:lnTo>
                    <a:lnTo>
                      <a:pt x="0" y="6052820"/>
                    </a:lnTo>
                    <a:close/>
                  </a:path>
                </a:pathLst>
              </a:custGeom>
              <a:solidFill>
                <a:srgbClr val="FFF3EB"/>
              </a:solidFill>
              <a:ln cap="sq">
                <a:noFill/>
                <a:prstDash val="solid"/>
                <a:miter/>
              </a:ln>
            </p:spPr>
          </p:sp>
          <p:sp>
            <p:nvSpPr>
              <p:cNvPr name="TextBox 17" id="17"/>
              <p:cNvSpPr txBox="true"/>
              <p:nvPr/>
            </p:nvSpPr>
            <p:spPr>
              <a:xfrm>
                <a:off x="0" y="-38100"/>
                <a:ext cx="9271000" cy="609092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698500" y="565150"/>
              <a:ext cx="7874000" cy="669290"/>
            </a:xfrm>
            <a:prstGeom prst="rect">
              <a:avLst/>
            </a:prstGeom>
          </p:spPr>
          <p:txBody>
            <a:bodyPr anchor="t" rtlCol="false" tIns="0" lIns="0" bIns="0" rIns="0">
              <a:spAutoFit/>
            </a:bodyPr>
            <a:lstStyle/>
            <a:p>
              <a:pPr algn="l" marL="0" indent="0" lvl="0">
                <a:lnSpc>
                  <a:spcPts val="3780"/>
                </a:lnSpc>
                <a:spcBef>
                  <a:spcPct val="0"/>
                </a:spcBef>
              </a:pPr>
              <a:r>
                <a:rPr lang="en-US" b="true" sz="3600" strike="noStrike" u="none">
                  <a:solidFill>
                    <a:srgbClr val="0B1F3A"/>
                  </a:solidFill>
                  <a:latin typeface="League Spartan"/>
                  <a:ea typeface="League Spartan"/>
                  <a:cs typeface="League Spartan"/>
                  <a:sym typeface="League Spartan"/>
                </a:rPr>
                <a:t>D · Session z-scoring</a:t>
              </a:r>
            </a:p>
          </p:txBody>
        </p:sp>
        <p:sp>
          <p:nvSpPr>
            <p:cNvPr name="TextBox 19" id="19"/>
            <p:cNvSpPr txBox="true"/>
            <p:nvPr/>
          </p:nvSpPr>
          <p:spPr>
            <a:xfrm rot="0">
              <a:off x="698500" y="1946275"/>
              <a:ext cx="7874000" cy="777875"/>
            </a:xfrm>
            <a:prstGeom prst="rect">
              <a:avLst/>
            </a:prstGeom>
          </p:spPr>
          <p:txBody>
            <a:bodyPr anchor="t" rtlCol="false" tIns="0" lIns="0" bIns="0" rIns="0">
              <a:spAutoFit/>
            </a:bodyPr>
            <a:lstStyle/>
            <a:p>
              <a:pPr algn="l">
                <a:lnSpc>
                  <a:spcPts val="4132"/>
                </a:lnSpc>
              </a:pPr>
              <a:r>
                <a:rPr lang="en-US" sz="4350" b="true">
                  <a:solidFill>
                    <a:srgbClr val="EF6C2F"/>
                  </a:solidFill>
                  <a:latin typeface="League Spartan"/>
                  <a:ea typeface="League Spartan"/>
                  <a:cs typeface="League Spartan"/>
                  <a:sym typeface="League Spartan"/>
                </a:rPr>
                <a:t>NOT SUPPORTED</a:t>
              </a:r>
            </a:p>
          </p:txBody>
        </p:sp>
        <p:sp>
          <p:nvSpPr>
            <p:cNvPr name="TextBox 20" id="20"/>
            <p:cNvSpPr txBox="true"/>
            <p:nvPr/>
          </p:nvSpPr>
          <p:spPr>
            <a:xfrm rot="0">
              <a:off x="698500" y="3155950"/>
              <a:ext cx="7874000" cy="1318260"/>
            </a:xfrm>
            <a:prstGeom prst="rect">
              <a:avLst/>
            </a:prstGeom>
          </p:spPr>
          <p:txBody>
            <a:bodyPr anchor="t" rtlCol="false" tIns="0" lIns="0" bIns="0" rIns="0">
              <a:spAutoFit/>
            </a:bodyPr>
            <a:lstStyle/>
            <a:p>
              <a:pPr algn="l" marL="0" indent="0" lvl="0">
                <a:lnSpc>
                  <a:spcPts val="2632"/>
                </a:lnSpc>
                <a:spcBef>
                  <a:spcPct val="0"/>
                </a:spcBef>
              </a:pPr>
              <a:r>
                <a:rPr lang="en-US" sz="2025" strike="noStrike" u="none">
                  <a:solidFill>
                    <a:srgbClr val="5F6F7F"/>
                  </a:solidFill>
                  <a:latin typeface="Source Sans 3"/>
                  <a:ea typeface="Source Sans 3"/>
                  <a:cs typeface="Source Sans 3"/>
                  <a:sym typeface="Source Sans 3"/>
                </a:rPr>
                <a:t>No change in AUC: drift reduction +0.000, Holm p = 0.91. The realistic first-run version was not better either.</a:t>
              </a:r>
            </a:p>
          </p:txBody>
        </p:sp>
      </p:grpSp>
      <p:sp>
        <p:nvSpPr>
          <p:cNvPr name="Freeform 21" id="21" descr="Drift cost, cross-session AUC and within-session AUC for variants A, C and D"/>
          <p:cNvSpPr/>
          <p:nvPr/>
        </p:nvSpPr>
        <p:spPr>
          <a:xfrm flipH="false" flipV="false" rot="0">
            <a:off x="1714500" y="7029450"/>
            <a:ext cx="14859000" cy="3238500"/>
          </a:xfrm>
          <a:custGeom>
            <a:avLst/>
            <a:gdLst/>
            <a:ahLst/>
            <a:cxnLst/>
            <a:rect r="r" b="b" t="t" l="l"/>
            <a:pathLst>
              <a:path h="3238500" w="14859000">
                <a:moveTo>
                  <a:pt x="0" y="0"/>
                </a:moveTo>
                <a:lnTo>
                  <a:pt x="14859000" y="0"/>
                </a:lnTo>
                <a:lnTo>
                  <a:pt x="14859000" y="3238500"/>
                </a:lnTo>
                <a:lnTo>
                  <a:pt x="0" y="3238500"/>
                </a:lnTo>
                <a:lnTo>
                  <a:pt x="0" y="0"/>
                </a:lnTo>
                <a:close/>
              </a:path>
            </a:pathLst>
          </a:custGeom>
          <a:blipFill>
            <a:blip r:embed="rId3"/>
            <a:stretch>
              <a:fillRect l="0" t="-9073" r="0" b="-9073"/>
            </a:stretch>
          </a:blipFill>
        </p:spPr>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47750" y="704850"/>
            <a:ext cx="14287500" cy="487680"/>
          </a:xfrm>
          <a:prstGeom prst="rect">
            <a:avLst/>
          </a:prstGeom>
        </p:spPr>
        <p:txBody>
          <a:bodyPr anchor="t" rtlCol="false" tIns="0" lIns="0" bIns="0" rIns="0">
            <a:spAutoFit/>
          </a:bodyPr>
          <a:lstStyle/>
          <a:p>
            <a:pPr algn="l">
              <a:lnSpc>
                <a:spcPts val="3780"/>
              </a:lnSpc>
            </a:pPr>
            <a:r>
              <a:rPr lang="en-US" sz="3600" b="true">
                <a:solidFill>
                  <a:srgbClr val="0B1F3A"/>
                </a:solidFill>
                <a:latin typeface="League Spartan"/>
                <a:ea typeface="League Spartan"/>
                <a:cs typeface="League Spartan"/>
                <a:sym typeface="League Spartan"/>
              </a:rPr>
              <a:t>Why our first notebook found no drift for the wrong reason</a:t>
            </a:r>
          </a:p>
        </p:txBody>
      </p:sp>
      <p:grpSp>
        <p:nvGrpSpPr>
          <p:cNvPr name="Group 3" id="3"/>
          <p:cNvGrpSpPr/>
          <p:nvPr/>
        </p:nvGrpSpPr>
        <p:grpSpPr>
          <a:xfrm rot="0">
            <a:off x="1047750" y="1421944"/>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a:ln cap="sq">
              <a:noFill/>
              <a:prstDash val="solid"/>
              <a:miter/>
            </a:ln>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1619250" y="3333750"/>
            <a:ext cx="6191250" cy="1619250"/>
            <a:chOff x="0" y="0"/>
            <a:chExt cx="8255000" cy="2159000"/>
          </a:xfrm>
        </p:grpSpPr>
        <p:sp>
          <p:nvSpPr>
            <p:cNvPr name="Freeform 7" id="7"/>
            <p:cNvSpPr/>
            <p:nvPr/>
          </p:nvSpPr>
          <p:spPr>
            <a:xfrm flipH="false" flipV="false" rot="0">
              <a:off x="0" y="0"/>
              <a:ext cx="8255000" cy="2159000"/>
            </a:xfrm>
            <a:custGeom>
              <a:avLst/>
              <a:gdLst/>
              <a:ahLst/>
              <a:cxnLst/>
              <a:rect r="r" b="b" t="t" l="l"/>
              <a:pathLst>
                <a:path h="2159000" w="8255000">
                  <a:moveTo>
                    <a:pt x="35169" y="0"/>
                  </a:moveTo>
                  <a:lnTo>
                    <a:pt x="8219831" y="0"/>
                  </a:lnTo>
                  <a:cubicBezTo>
                    <a:pt x="8239254" y="0"/>
                    <a:pt x="8255000" y="15746"/>
                    <a:pt x="8255000" y="35169"/>
                  </a:cubicBezTo>
                  <a:lnTo>
                    <a:pt x="8255000" y="2123831"/>
                  </a:lnTo>
                  <a:cubicBezTo>
                    <a:pt x="8255000" y="2143254"/>
                    <a:pt x="8239254" y="2159000"/>
                    <a:pt x="8219831" y="2159000"/>
                  </a:cubicBezTo>
                  <a:lnTo>
                    <a:pt x="35169" y="2159000"/>
                  </a:lnTo>
                  <a:cubicBezTo>
                    <a:pt x="15746" y="2159000"/>
                    <a:pt x="0" y="2143254"/>
                    <a:pt x="0" y="2123831"/>
                  </a:cubicBezTo>
                  <a:lnTo>
                    <a:pt x="0" y="35169"/>
                  </a:lnTo>
                  <a:cubicBezTo>
                    <a:pt x="0" y="15746"/>
                    <a:pt x="15746" y="0"/>
                    <a:pt x="35169" y="0"/>
                  </a:cubicBezTo>
                  <a:close/>
                </a:path>
              </a:pathLst>
            </a:custGeom>
            <a:solidFill>
              <a:srgbClr val="FFF3EB"/>
            </a:solidFill>
            <a:ln cap="sq">
              <a:noFill/>
              <a:prstDash val="solid"/>
              <a:miter/>
            </a:ln>
          </p:spPr>
        </p:sp>
        <p:sp>
          <p:nvSpPr>
            <p:cNvPr name="TextBox 8" id="8"/>
            <p:cNvSpPr txBox="true"/>
            <p:nvPr/>
          </p:nvSpPr>
          <p:spPr>
            <a:xfrm>
              <a:off x="0" y="9525"/>
              <a:ext cx="8255000" cy="21494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MATCHED, PAST-ONLY TRAINING</a:t>
              </a:r>
            </a:p>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S1 → S2: AUC 0.656 vs within 0.677</a:t>
              </a:r>
            </a:p>
          </p:txBody>
        </p:sp>
      </p:grpSp>
      <p:grpSp>
        <p:nvGrpSpPr>
          <p:cNvPr name="Group 9" id="9"/>
          <p:cNvGrpSpPr/>
          <p:nvPr/>
        </p:nvGrpSpPr>
        <p:grpSpPr>
          <a:xfrm rot="0">
            <a:off x="10477500" y="3333750"/>
            <a:ext cx="6191250" cy="1619250"/>
            <a:chOff x="0" y="0"/>
            <a:chExt cx="8255000" cy="2159000"/>
          </a:xfrm>
        </p:grpSpPr>
        <p:sp>
          <p:nvSpPr>
            <p:cNvPr name="Freeform 10" id="10"/>
            <p:cNvSpPr/>
            <p:nvPr/>
          </p:nvSpPr>
          <p:spPr>
            <a:xfrm flipH="false" flipV="false" rot="0">
              <a:off x="0" y="0"/>
              <a:ext cx="8255000" cy="2159000"/>
            </a:xfrm>
            <a:custGeom>
              <a:avLst/>
              <a:gdLst/>
              <a:ahLst/>
              <a:cxnLst/>
              <a:rect r="r" b="b" t="t" l="l"/>
              <a:pathLst>
                <a:path h="2159000" w="8255000">
                  <a:moveTo>
                    <a:pt x="35169" y="0"/>
                  </a:moveTo>
                  <a:lnTo>
                    <a:pt x="8219831" y="0"/>
                  </a:lnTo>
                  <a:cubicBezTo>
                    <a:pt x="8239254" y="0"/>
                    <a:pt x="8255000" y="15746"/>
                    <a:pt x="8255000" y="35169"/>
                  </a:cubicBezTo>
                  <a:lnTo>
                    <a:pt x="8255000" y="2123831"/>
                  </a:lnTo>
                  <a:cubicBezTo>
                    <a:pt x="8255000" y="2143254"/>
                    <a:pt x="8239254" y="2159000"/>
                    <a:pt x="8219831" y="2159000"/>
                  </a:cubicBezTo>
                  <a:lnTo>
                    <a:pt x="35169" y="2159000"/>
                  </a:lnTo>
                  <a:cubicBezTo>
                    <a:pt x="15746" y="2159000"/>
                    <a:pt x="0" y="2143254"/>
                    <a:pt x="0" y="2123831"/>
                  </a:cubicBezTo>
                  <a:lnTo>
                    <a:pt x="0" y="35169"/>
                  </a:lnTo>
                  <a:cubicBezTo>
                    <a:pt x="0" y="15746"/>
                    <a:pt x="15746" y="0"/>
                    <a:pt x="35169" y="0"/>
                  </a:cubicBezTo>
                  <a:close/>
                </a:path>
              </a:pathLst>
            </a:custGeom>
            <a:solidFill>
              <a:srgbClr val="EEF3F7"/>
            </a:solidFill>
            <a:ln cap="sq">
              <a:noFill/>
              <a:prstDash val="solid"/>
              <a:miter/>
            </a:ln>
          </p:spPr>
        </p:sp>
        <p:sp>
          <p:nvSpPr>
            <p:cNvPr name="TextBox 11" id="11"/>
            <p:cNvSpPr txBox="true"/>
            <p:nvPr/>
          </p:nvSpPr>
          <p:spPr>
            <a:xfrm>
              <a:off x="0" y="9525"/>
              <a:ext cx="8255000" cy="2149475"/>
            </a:xfrm>
            <a:prstGeom prst="rect">
              <a:avLst/>
            </a:prstGeom>
          </p:spPr>
          <p:txBody>
            <a:bodyPr anchor="ctr" rtlCol="false" tIns="50800" lIns="50800" bIns="50800" rIns="50800"/>
            <a:lstStyle/>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MOABB: 4 OTHER SESSIONS</a:t>
              </a:r>
            </a:p>
            <a:p>
              <a:pPr algn="ctr" marL="0" indent="0" lvl="0">
                <a:lnSpc>
                  <a:spcPts val="2070"/>
                </a:lnSpc>
                <a:spcBef>
                  <a:spcPct val="0"/>
                </a:spcBef>
              </a:pPr>
              <a:r>
                <a:rPr lang="en-US" b="true" sz="1800" strike="noStrike" u="none">
                  <a:solidFill>
                    <a:srgbClr val="0B1F3A"/>
                  </a:solidFill>
                  <a:latin typeface="Source Sans 3 Bold"/>
                  <a:ea typeface="Source Sans 3 Bold"/>
                  <a:cs typeface="Source Sans 3 Bold"/>
                  <a:sym typeface="Source Sans 3 Bold"/>
                </a:rPr>
                <a:t>incl. later days → AUC 0.697 on S2</a:t>
              </a:r>
            </a:p>
          </p:txBody>
        </p:sp>
      </p:grpSp>
      <p:sp>
        <p:nvSpPr>
          <p:cNvPr name="TextBox 12" id="12"/>
          <p:cNvSpPr txBox="true"/>
          <p:nvPr/>
        </p:nvSpPr>
        <p:spPr>
          <a:xfrm rot="0">
            <a:off x="1619250" y="5524500"/>
            <a:ext cx="6191250" cy="423862"/>
          </a:xfrm>
          <a:prstGeom prst="rect">
            <a:avLst/>
          </a:prstGeom>
        </p:spPr>
        <p:txBody>
          <a:bodyPr anchor="t" rtlCol="false" tIns="0" lIns="0" bIns="0" rIns="0">
            <a:spAutoFit/>
          </a:bodyPr>
          <a:lstStyle/>
          <a:p>
            <a:pPr algn="ctr" marL="0" indent="0" lvl="0">
              <a:lnSpc>
                <a:spcPts val="3277"/>
              </a:lnSpc>
              <a:spcBef>
                <a:spcPct val="0"/>
              </a:spcBef>
            </a:pPr>
            <a:r>
              <a:rPr lang="en-US" b="true" sz="3450" strike="noStrike" u="none">
                <a:solidFill>
                  <a:srgbClr val="EF6C2F"/>
                </a:solidFill>
                <a:latin typeface="League Spartan"/>
                <a:ea typeface="League Spartan"/>
                <a:cs typeface="League Spartan"/>
                <a:sym typeface="League Spartan"/>
              </a:rPr>
              <a:t>the fair test of drift</a:t>
            </a:r>
          </a:p>
        </p:txBody>
      </p:sp>
      <p:sp>
        <p:nvSpPr>
          <p:cNvPr name="TextBox 13" id="13"/>
          <p:cNvSpPr txBox="true"/>
          <p:nvPr/>
        </p:nvSpPr>
        <p:spPr>
          <a:xfrm rot="0">
            <a:off x="10477500" y="5524500"/>
            <a:ext cx="6191250" cy="833438"/>
          </a:xfrm>
          <a:prstGeom prst="rect">
            <a:avLst/>
          </a:prstGeom>
        </p:spPr>
        <p:txBody>
          <a:bodyPr anchor="t" rtlCol="false" tIns="0" lIns="0" bIns="0" rIns="0">
            <a:spAutoFit/>
          </a:bodyPr>
          <a:lstStyle/>
          <a:p>
            <a:pPr algn="ctr" marL="0" indent="0" lvl="0">
              <a:lnSpc>
                <a:spcPts val="3277"/>
              </a:lnSpc>
              <a:spcBef>
                <a:spcPct val="0"/>
              </a:spcBef>
            </a:pPr>
            <a:r>
              <a:rPr lang="en-US" b="true" sz="3450" strike="noStrike" u="none">
                <a:solidFill>
                  <a:srgbClr val="245A8D"/>
                </a:solidFill>
                <a:latin typeface="League Spartan"/>
                <a:ea typeface="League Spartan"/>
                <a:cs typeface="League Spartan"/>
                <a:sym typeface="League Spartan"/>
              </a:rPr>
              <a:t>beats the scored day itself in 7/9 subjects (+0.016)</a:t>
            </a:r>
          </a:p>
        </p:txBody>
      </p:sp>
      <p:sp>
        <p:nvSpPr>
          <p:cNvPr name="TextBox 14" id="14"/>
          <p:cNvSpPr txBox="true"/>
          <p:nvPr/>
        </p:nvSpPr>
        <p:spPr>
          <a:xfrm rot="0">
            <a:off x="2667000" y="7877175"/>
            <a:ext cx="12954000" cy="837247"/>
          </a:xfrm>
          <a:prstGeom prst="rect">
            <a:avLst/>
          </a:prstGeom>
        </p:spPr>
        <p:txBody>
          <a:bodyPr anchor="t" rtlCol="false" tIns="0" lIns="0" bIns="0" rIns="0">
            <a:spAutoFit/>
          </a:bodyPr>
          <a:lstStyle/>
          <a:p>
            <a:pPr algn="ctr" marL="0" indent="0" lvl="0">
              <a:lnSpc>
                <a:spcPts val="3442"/>
              </a:lnSpc>
              <a:spcBef>
                <a:spcPct val="0"/>
              </a:spcBef>
            </a:pPr>
            <a:r>
              <a:rPr lang="en-US" sz="2550" strike="noStrike" u="none">
                <a:solidFill>
                  <a:srgbClr val="0B1F3A"/>
                </a:solidFill>
                <a:latin typeface="Source Sans 3"/>
                <a:ea typeface="Source Sans 3"/>
                <a:cs typeface="Source Sans 3"/>
                <a:sym typeface="Source Sans 3"/>
              </a:rPr>
              <a:t>More training data outweighs any day-to-day change, so leave-one-session-out hides drift. Only matched-size, past-only comparisons can test it.</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47750" y="704850"/>
            <a:ext cx="14287500" cy="520541"/>
          </a:xfrm>
          <a:prstGeom prst="rect">
            <a:avLst/>
          </a:prstGeom>
        </p:spPr>
        <p:txBody>
          <a:bodyPr anchor="t" rtlCol="false" tIns="0" lIns="0" bIns="0" rIns="0">
            <a:spAutoFit/>
          </a:bodyPr>
          <a:lstStyle/>
          <a:p>
            <a:pPr algn="l">
              <a:lnSpc>
                <a:spcPts val="4016"/>
              </a:lnSpc>
            </a:pPr>
            <a:r>
              <a:rPr lang="en-US" sz="3825" b="true">
                <a:solidFill>
                  <a:srgbClr val="0B1F3A"/>
                </a:solidFill>
                <a:latin typeface="League Spartan"/>
                <a:ea typeface="League Spartan"/>
                <a:cs typeface="League Spartan"/>
                <a:sym typeface="League Spartan"/>
              </a:rPr>
              <a:t>Robustness: does the conclusion depend on our choices?</a:t>
            </a:r>
          </a:p>
        </p:txBody>
      </p:sp>
      <p:grpSp>
        <p:nvGrpSpPr>
          <p:cNvPr name="Group 3" id="3"/>
          <p:cNvGrpSpPr/>
          <p:nvPr/>
        </p:nvGrpSpPr>
        <p:grpSpPr>
          <a:xfrm rot="0">
            <a:off x="1047750" y="1464731"/>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a:ln cap="sq">
              <a:noFill/>
              <a:prstDash val="solid"/>
              <a:miter/>
            </a:ln>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1674281"/>
            <a:ext cx="14287500" cy="273367"/>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5F6F7F"/>
                </a:solidFill>
                <a:latin typeface="Source Sans 3"/>
                <a:ea typeface="Source Sans 3"/>
                <a:cs typeface="Source Sans 3"/>
                <a:sym typeface="Source Sans 3"/>
              </a:rPr>
              <a:t>Six pre-planned sensitivity analyses: H1a and H1b never reach significance; fix D never reduces drift.</a:t>
            </a:r>
          </a:p>
        </p:txBody>
      </p:sp>
      <p:grpSp>
        <p:nvGrpSpPr>
          <p:cNvPr name="Group 7" id="7"/>
          <p:cNvGrpSpPr/>
          <p:nvPr/>
        </p:nvGrpSpPr>
        <p:grpSpPr>
          <a:xfrm rot="0">
            <a:off x="1238250" y="3238500"/>
            <a:ext cx="4762500" cy="1809750"/>
            <a:chOff x="0" y="0"/>
            <a:chExt cx="6350000" cy="2413000"/>
          </a:xfrm>
        </p:grpSpPr>
        <p:grpSp>
          <p:nvGrpSpPr>
            <p:cNvPr name="Group 8" id="8"/>
            <p:cNvGrpSpPr/>
            <p:nvPr/>
          </p:nvGrpSpPr>
          <p:grpSpPr>
            <a:xfrm rot="0">
              <a:off x="0" y="0"/>
              <a:ext cx="6350000" cy="2413000"/>
              <a:chOff x="0" y="0"/>
              <a:chExt cx="6350000" cy="2413000"/>
            </a:xfrm>
          </p:grpSpPr>
          <p:sp>
            <p:nvSpPr>
              <p:cNvPr name="Freeform 9" id="9"/>
              <p:cNvSpPr/>
              <p:nvPr/>
            </p:nvSpPr>
            <p:spPr>
              <a:xfrm flipH="false" flipV="false" rot="0">
                <a:off x="0" y="0"/>
                <a:ext cx="6350000" cy="2413000"/>
              </a:xfrm>
              <a:custGeom>
                <a:avLst/>
                <a:gdLst/>
                <a:ahLst/>
                <a:cxnLst/>
                <a:rect r="r" b="b" t="t" l="l"/>
                <a:pathLst>
                  <a:path h="2413000" w="6350000">
                    <a:moveTo>
                      <a:pt x="0" y="0"/>
                    </a:moveTo>
                    <a:lnTo>
                      <a:pt x="6350000" y="0"/>
                    </a:lnTo>
                    <a:lnTo>
                      <a:pt x="6350000" y="2413000"/>
                    </a:lnTo>
                    <a:lnTo>
                      <a:pt x="0" y="2413000"/>
                    </a:lnTo>
                    <a:close/>
                  </a:path>
                </a:pathLst>
              </a:custGeom>
              <a:solidFill>
                <a:srgbClr val="EEF3F7"/>
              </a:solidFill>
              <a:ln cap="sq">
                <a:noFill/>
                <a:prstDash val="solid"/>
                <a:miter/>
              </a:ln>
            </p:spPr>
          </p:sp>
          <p:sp>
            <p:nvSpPr>
              <p:cNvPr name="TextBox 10" id="10"/>
              <p:cNvSpPr txBox="true"/>
              <p:nvPr/>
            </p:nvSpPr>
            <p:spPr>
              <a:xfrm>
                <a:off x="0" y="-38100"/>
                <a:ext cx="6350000" cy="245110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355600" y="450850"/>
              <a:ext cx="1143000" cy="660400"/>
            </a:xfrm>
            <a:prstGeom prst="rect">
              <a:avLst/>
            </a:prstGeom>
          </p:spPr>
          <p:txBody>
            <a:bodyPr anchor="t" rtlCol="false" tIns="0" lIns="0" bIns="0" rIns="0">
              <a:spAutoFit/>
            </a:bodyPr>
            <a:lstStyle/>
            <a:p>
              <a:pPr algn="l">
                <a:lnSpc>
                  <a:spcPts val="3562"/>
                </a:lnSpc>
              </a:pPr>
              <a:r>
                <a:rPr lang="en-US" sz="3750" b="true">
                  <a:solidFill>
                    <a:srgbClr val="EF6C2F"/>
                  </a:solidFill>
                  <a:latin typeface="League Spartan"/>
                  <a:ea typeface="League Spartan"/>
                  <a:cs typeface="League Spartan"/>
                  <a:sym typeface="League Spartan"/>
                </a:rPr>
                <a:t>01</a:t>
              </a:r>
            </a:p>
          </p:txBody>
        </p:sp>
        <p:sp>
          <p:nvSpPr>
            <p:cNvPr name="TextBox 12" id="12"/>
            <p:cNvSpPr txBox="true"/>
            <p:nvPr/>
          </p:nvSpPr>
          <p:spPr>
            <a:xfrm rot="0">
              <a:off x="1587500" y="581025"/>
              <a:ext cx="4191000" cy="479425"/>
            </a:xfrm>
            <a:prstGeom prst="rect">
              <a:avLst/>
            </a:prstGeom>
          </p:spPr>
          <p:txBody>
            <a:bodyPr anchor="t" rtlCol="false" tIns="0" lIns="0" bIns="0" rIns="0">
              <a:spAutoFit/>
            </a:bodyPr>
            <a:lstStyle/>
            <a:p>
              <a:pPr algn="l" marL="0" indent="0" lvl="0">
                <a:lnSpc>
                  <a:spcPts val="3037"/>
                </a:lnSpc>
                <a:spcBef>
                  <a:spcPct val="0"/>
                </a:spcBef>
              </a:pPr>
              <a:r>
                <a:rPr lang="en-US" b="true" sz="2250" strike="noStrike" u="none">
                  <a:solidFill>
                    <a:srgbClr val="0B1F3A"/>
                  </a:solidFill>
                  <a:latin typeface="Source Sans 3 Bold"/>
                  <a:ea typeface="Source Sans 3 Bold"/>
                  <a:cs typeface="Source Sans 3 Bold"/>
                  <a:sym typeface="Source Sans 3 Bold"/>
                </a:rPr>
                <a:t>No trial cleaning</a:t>
              </a:r>
            </a:p>
          </p:txBody>
        </p:sp>
        <p:sp>
          <p:nvSpPr>
            <p:cNvPr name="TextBox 13" id="13"/>
            <p:cNvSpPr txBox="true"/>
            <p:nvPr/>
          </p:nvSpPr>
          <p:spPr>
            <a:xfrm rot="0">
              <a:off x="1587500" y="1314450"/>
              <a:ext cx="4191000" cy="358140"/>
            </a:xfrm>
            <a:prstGeom prst="rect">
              <a:avLst/>
            </a:prstGeom>
          </p:spPr>
          <p:txBody>
            <a:bodyPr anchor="t" rtlCol="false" tIns="0" lIns="0" bIns="0" rIns="0">
              <a:spAutoFit/>
            </a:bodyPr>
            <a:lstStyle/>
            <a:p>
              <a:pPr algn="l">
                <a:lnSpc>
                  <a:spcPts val="2242"/>
                </a:lnSpc>
              </a:pPr>
              <a:r>
                <a:rPr lang="en-US" sz="1725">
                  <a:solidFill>
                    <a:srgbClr val="5F6F7F"/>
                  </a:solidFill>
                  <a:latin typeface="Source Sans 3"/>
                  <a:ea typeface="Source Sans 3"/>
                  <a:cs typeface="Source Sans 3"/>
                  <a:sym typeface="Source Sans 3"/>
                </a:rPr>
                <a:t>same conclusion</a:t>
              </a:r>
            </a:p>
          </p:txBody>
        </p:sp>
      </p:grpSp>
      <p:grpSp>
        <p:nvGrpSpPr>
          <p:cNvPr name="Group 14" id="14"/>
          <p:cNvGrpSpPr/>
          <p:nvPr/>
        </p:nvGrpSpPr>
        <p:grpSpPr>
          <a:xfrm rot="0">
            <a:off x="6762750" y="3238500"/>
            <a:ext cx="4762500" cy="1809750"/>
            <a:chOff x="0" y="0"/>
            <a:chExt cx="6350000" cy="2413000"/>
          </a:xfrm>
        </p:grpSpPr>
        <p:grpSp>
          <p:nvGrpSpPr>
            <p:cNvPr name="Group 15" id="15"/>
            <p:cNvGrpSpPr/>
            <p:nvPr/>
          </p:nvGrpSpPr>
          <p:grpSpPr>
            <a:xfrm rot="0">
              <a:off x="0" y="0"/>
              <a:ext cx="6350000" cy="2413000"/>
              <a:chOff x="0" y="0"/>
              <a:chExt cx="6350000" cy="2413000"/>
            </a:xfrm>
          </p:grpSpPr>
          <p:sp>
            <p:nvSpPr>
              <p:cNvPr name="Freeform 16" id="16"/>
              <p:cNvSpPr/>
              <p:nvPr/>
            </p:nvSpPr>
            <p:spPr>
              <a:xfrm flipH="false" flipV="false" rot="0">
                <a:off x="0" y="0"/>
                <a:ext cx="6350000" cy="2413000"/>
              </a:xfrm>
              <a:custGeom>
                <a:avLst/>
                <a:gdLst/>
                <a:ahLst/>
                <a:cxnLst/>
                <a:rect r="r" b="b" t="t" l="l"/>
                <a:pathLst>
                  <a:path h="2413000" w="6350000">
                    <a:moveTo>
                      <a:pt x="0" y="0"/>
                    </a:moveTo>
                    <a:lnTo>
                      <a:pt x="6350000" y="0"/>
                    </a:lnTo>
                    <a:lnTo>
                      <a:pt x="6350000" y="2413000"/>
                    </a:lnTo>
                    <a:lnTo>
                      <a:pt x="0" y="2413000"/>
                    </a:lnTo>
                    <a:close/>
                  </a:path>
                </a:pathLst>
              </a:custGeom>
              <a:solidFill>
                <a:srgbClr val="EEF3F7"/>
              </a:solidFill>
              <a:ln cap="sq">
                <a:noFill/>
                <a:prstDash val="solid"/>
                <a:miter/>
              </a:ln>
            </p:spPr>
          </p:sp>
          <p:sp>
            <p:nvSpPr>
              <p:cNvPr name="TextBox 17" id="17"/>
              <p:cNvSpPr txBox="true"/>
              <p:nvPr/>
            </p:nvSpPr>
            <p:spPr>
              <a:xfrm>
                <a:off x="0" y="-38100"/>
                <a:ext cx="6350000" cy="2451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355600" y="450850"/>
              <a:ext cx="1143000" cy="660400"/>
            </a:xfrm>
            <a:prstGeom prst="rect">
              <a:avLst/>
            </a:prstGeom>
          </p:spPr>
          <p:txBody>
            <a:bodyPr anchor="t" rtlCol="false" tIns="0" lIns="0" bIns="0" rIns="0">
              <a:spAutoFit/>
            </a:bodyPr>
            <a:lstStyle/>
            <a:p>
              <a:pPr algn="l">
                <a:lnSpc>
                  <a:spcPts val="3562"/>
                </a:lnSpc>
              </a:pPr>
              <a:r>
                <a:rPr lang="en-US" sz="3750" b="true">
                  <a:solidFill>
                    <a:srgbClr val="EF6C2F"/>
                  </a:solidFill>
                  <a:latin typeface="League Spartan"/>
                  <a:ea typeface="League Spartan"/>
                  <a:cs typeface="League Spartan"/>
                  <a:sym typeface="League Spartan"/>
                </a:rPr>
                <a:t>02</a:t>
              </a:r>
            </a:p>
          </p:txBody>
        </p:sp>
        <p:sp>
          <p:nvSpPr>
            <p:cNvPr name="TextBox 19" id="19"/>
            <p:cNvSpPr txBox="true"/>
            <p:nvPr/>
          </p:nvSpPr>
          <p:spPr>
            <a:xfrm rot="0">
              <a:off x="1587500" y="581025"/>
              <a:ext cx="4191000" cy="479425"/>
            </a:xfrm>
            <a:prstGeom prst="rect">
              <a:avLst/>
            </a:prstGeom>
          </p:spPr>
          <p:txBody>
            <a:bodyPr anchor="t" rtlCol="false" tIns="0" lIns="0" bIns="0" rIns="0">
              <a:spAutoFit/>
            </a:bodyPr>
            <a:lstStyle/>
            <a:p>
              <a:pPr algn="l" marL="0" indent="0" lvl="0">
                <a:lnSpc>
                  <a:spcPts val="3037"/>
                </a:lnSpc>
                <a:spcBef>
                  <a:spcPct val="0"/>
                </a:spcBef>
              </a:pPr>
              <a:r>
                <a:rPr lang="en-US" b="true" sz="2250" strike="noStrike" u="none">
                  <a:solidFill>
                    <a:srgbClr val="0B1F3A"/>
                  </a:solidFill>
                  <a:latin typeface="Source Sans 3 Bold"/>
                  <a:ea typeface="Source Sans 3 Bold"/>
                  <a:cs typeface="Source Sans 3 Bold"/>
                  <a:sym typeface="Source Sans 3 Bold"/>
                </a:rPr>
                <a:t>No EOG regression</a:t>
              </a:r>
            </a:p>
          </p:txBody>
        </p:sp>
        <p:sp>
          <p:nvSpPr>
            <p:cNvPr name="TextBox 20" id="20"/>
            <p:cNvSpPr txBox="true"/>
            <p:nvPr/>
          </p:nvSpPr>
          <p:spPr>
            <a:xfrm rot="0">
              <a:off x="1587500" y="1314450"/>
              <a:ext cx="4191000" cy="358140"/>
            </a:xfrm>
            <a:prstGeom prst="rect">
              <a:avLst/>
            </a:prstGeom>
          </p:spPr>
          <p:txBody>
            <a:bodyPr anchor="t" rtlCol="false" tIns="0" lIns="0" bIns="0" rIns="0">
              <a:spAutoFit/>
            </a:bodyPr>
            <a:lstStyle/>
            <a:p>
              <a:pPr algn="l">
                <a:lnSpc>
                  <a:spcPts val="2242"/>
                </a:lnSpc>
              </a:pPr>
              <a:r>
                <a:rPr lang="en-US" sz="1725">
                  <a:solidFill>
                    <a:srgbClr val="5F6F7F"/>
                  </a:solidFill>
                  <a:latin typeface="Source Sans 3"/>
                  <a:ea typeface="Source Sans 3"/>
                  <a:cs typeface="Source Sans 3"/>
                  <a:sym typeface="Source Sans 3"/>
                </a:rPr>
                <a:t>same conclusion</a:t>
              </a:r>
            </a:p>
          </p:txBody>
        </p:sp>
      </p:grpSp>
      <p:grpSp>
        <p:nvGrpSpPr>
          <p:cNvPr name="Group 21" id="21"/>
          <p:cNvGrpSpPr/>
          <p:nvPr/>
        </p:nvGrpSpPr>
        <p:grpSpPr>
          <a:xfrm rot="0">
            <a:off x="12287250" y="3238500"/>
            <a:ext cx="4762500" cy="1809750"/>
            <a:chOff x="0" y="0"/>
            <a:chExt cx="6350000" cy="2413000"/>
          </a:xfrm>
        </p:grpSpPr>
        <p:grpSp>
          <p:nvGrpSpPr>
            <p:cNvPr name="Group 22" id="22"/>
            <p:cNvGrpSpPr/>
            <p:nvPr/>
          </p:nvGrpSpPr>
          <p:grpSpPr>
            <a:xfrm rot="0">
              <a:off x="0" y="0"/>
              <a:ext cx="6350000" cy="2413000"/>
              <a:chOff x="0" y="0"/>
              <a:chExt cx="6350000" cy="2413000"/>
            </a:xfrm>
          </p:grpSpPr>
          <p:sp>
            <p:nvSpPr>
              <p:cNvPr name="Freeform 23" id="23"/>
              <p:cNvSpPr/>
              <p:nvPr/>
            </p:nvSpPr>
            <p:spPr>
              <a:xfrm flipH="false" flipV="false" rot="0">
                <a:off x="0" y="0"/>
                <a:ext cx="6350000" cy="2413000"/>
              </a:xfrm>
              <a:custGeom>
                <a:avLst/>
                <a:gdLst/>
                <a:ahLst/>
                <a:cxnLst/>
                <a:rect r="r" b="b" t="t" l="l"/>
                <a:pathLst>
                  <a:path h="2413000" w="6350000">
                    <a:moveTo>
                      <a:pt x="0" y="0"/>
                    </a:moveTo>
                    <a:lnTo>
                      <a:pt x="6350000" y="0"/>
                    </a:lnTo>
                    <a:lnTo>
                      <a:pt x="6350000" y="2413000"/>
                    </a:lnTo>
                    <a:lnTo>
                      <a:pt x="0" y="2413000"/>
                    </a:lnTo>
                    <a:close/>
                  </a:path>
                </a:pathLst>
              </a:custGeom>
              <a:solidFill>
                <a:srgbClr val="EEF3F7"/>
              </a:solidFill>
              <a:ln cap="sq">
                <a:noFill/>
                <a:prstDash val="solid"/>
                <a:miter/>
              </a:ln>
            </p:spPr>
          </p:sp>
          <p:sp>
            <p:nvSpPr>
              <p:cNvPr name="TextBox 24" id="24"/>
              <p:cNvSpPr txBox="true"/>
              <p:nvPr/>
            </p:nvSpPr>
            <p:spPr>
              <a:xfrm>
                <a:off x="0" y="-38100"/>
                <a:ext cx="6350000" cy="24511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355600" y="450850"/>
              <a:ext cx="1143000" cy="660400"/>
            </a:xfrm>
            <a:prstGeom prst="rect">
              <a:avLst/>
            </a:prstGeom>
          </p:spPr>
          <p:txBody>
            <a:bodyPr anchor="t" rtlCol="false" tIns="0" lIns="0" bIns="0" rIns="0">
              <a:spAutoFit/>
            </a:bodyPr>
            <a:lstStyle/>
            <a:p>
              <a:pPr algn="l">
                <a:lnSpc>
                  <a:spcPts val="3562"/>
                </a:lnSpc>
              </a:pPr>
              <a:r>
                <a:rPr lang="en-US" sz="3750" b="true">
                  <a:solidFill>
                    <a:srgbClr val="EF6C2F"/>
                  </a:solidFill>
                  <a:latin typeface="League Spartan"/>
                  <a:ea typeface="League Spartan"/>
                  <a:cs typeface="League Spartan"/>
                  <a:sym typeface="League Spartan"/>
                </a:rPr>
                <a:t>03</a:t>
              </a:r>
            </a:p>
          </p:txBody>
        </p:sp>
        <p:sp>
          <p:nvSpPr>
            <p:cNvPr name="TextBox 26" id="26"/>
            <p:cNvSpPr txBox="true"/>
            <p:nvPr/>
          </p:nvSpPr>
          <p:spPr>
            <a:xfrm rot="0">
              <a:off x="1587500" y="581025"/>
              <a:ext cx="4191000" cy="479425"/>
            </a:xfrm>
            <a:prstGeom prst="rect">
              <a:avLst/>
            </a:prstGeom>
          </p:spPr>
          <p:txBody>
            <a:bodyPr anchor="t" rtlCol="false" tIns="0" lIns="0" bIns="0" rIns="0">
              <a:spAutoFit/>
            </a:bodyPr>
            <a:lstStyle/>
            <a:p>
              <a:pPr algn="l" marL="0" indent="0" lvl="0">
                <a:lnSpc>
                  <a:spcPts val="3037"/>
                </a:lnSpc>
                <a:spcBef>
                  <a:spcPct val="0"/>
                </a:spcBef>
              </a:pPr>
              <a:r>
                <a:rPr lang="en-US" b="true" sz="2250" strike="noStrike" u="none">
                  <a:solidFill>
                    <a:srgbClr val="0B1F3A"/>
                  </a:solidFill>
                  <a:latin typeface="Source Sans 3 Bold"/>
                  <a:ea typeface="Source Sans 3 Bold"/>
                  <a:cs typeface="Source Sans 3 Bold"/>
                  <a:sym typeface="Source Sans 3 Bold"/>
                </a:rPr>
                <a:t>Online z-scoring</a:t>
              </a:r>
            </a:p>
          </p:txBody>
        </p:sp>
        <p:sp>
          <p:nvSpPr>
            <p:cNvPr name="TextBox 27" id="27"/>
            <p:cNvSpPr txBox="true"/>
            <p:nvPr/>
          </p:nvSpPr>
          <p:spPr>
            <a:xfrm rot="0">
              <a:off x="1587500" y="1314450"/>
              <a:ext cx="4191000" cy="358140"/>
            </a:xfrm>
            <a:prstGeom prst="rect">
              <a:avLst/>
            </a:prstGeom>
          </p:spPr>
          <p:txBody>
            <a:bodyPr anchor="t" rtlCol="false" tIns="0" lIns="0" bIns="0" rIns="0">
              <a:spAutoFit/>
            </a:bodyPr>
            <a:lstStyle/>
            <a:p>
              <a:pPr algn="l">
                <a:lnSpc>
                  <a:spcPts val="2242"/>
                </a:lnSpc>
              </a:pPr>
              <a:r>
                <a:rPr lang="en-US" sz="1725">
                  <a:solidFill>
                    <a:srgbClr val="5F6F7F"/>
                  </a:solidFill>
                  <a:latin typeface="Source Sans 3"/>
                  <a:ea typeface="Source Sans 3"/>
                  <a:cs typeface="Source Sans 3"/>
                  <a:sym typeface="Source Sans 3"/>
                </a:rPr>
                <a:t>same conclusion</a:t>
              </a:r>
            </a:p>
          </p:txBody>
        </p:sp>
      </p:grpSp>
      <p:grpSp>
        <p:nvGrpSpPr>
          <p:cNvPr name="Group 28" id="28"/>
          <p:cNvGrpSpPr/>
          <p:nvPr/>
        </p:nvGrpSpPr>
        <p:grpSpPr>
          <a:xfrm rot="0">
            <a:off x="1238250" y="5715000"/>
            <a:ext cx="4762500" cy="1809750"/>
            <a:chOff x="0" y="0"/>
            <a:chExt cx="6350000" cy="2413000"/>
          </a:xfrm>
        </p:grpSpPr>
        <p:grpSp>
          <p:nvGrpSpPr>
            <p:cNvPr name="Group 29" id="29"/>
            <p:cNvGrpSpPr/>
            <p:nvPr/>
          </p:nvGrpSpPr>
          <p:grpSpPr>
            <a:xfrm rot="0">
              <a:off x="0" y="0"/>
              <a:ext cx="6350000" cy="2413000"/>
              <a:chOff x="0" y="0"/>
              <a:chExt cx="6350000" cy="2413000"/>
            </a:xfrm>
          </p:grpSpPr>
          <p:sp>
            <p:nvSpPr>
              <p:cNvPr name="Freeform 30" id="30"/>
              <p:cNvSpPr/>
              <p:nvPr/>
            </p:nvSpPr>
            <p:spPr>
              <a:xfrm flipH="false" flipV="false" rot="0">
                <a:off x="0" y="0"/>
                <a:ext cx="6350000" cy="2413000"/>
              </a:xfrm>
              <a:custGeom>
                <a:avLst/>
                <a:gdLst/>
                <a:ahLst/>
                <a:cxnLst/>
                <a:rect r="r" b="b" t="t" l="l"/>
                <a:pathLst>
                  <a:path h="2413000" w="6350000">
                    <a:moveTo>
                      <a:pt x="0" y="0"/>
                    </a:moveTo>
                    <a:lnTo>
                      <a:pt x="6350000" y="0"/>
                    </a:lnTo>
                    <a:lnTo>
                      <a:pt x="6350000" y="2413000"/>
                    </a:lnTo>
                    <a:lnTo>
                      <a:pt x="0" y="2413000"/>
                    </a:lnTo>
                    <a:close/>
                  </a:path>
                </a:pathLst>
              </a:custGeom>
              <a:solidFill>
                <a:srgbClr val="EEF3F7"/>
              </a:solidFill>
              <a:ln cap="sq">
                <a:noFill/>
                <a:prstDash val="solid"/>
                <a:miter/>
              </a:ln>
            </p:spPr>
          </p:sp>
          <p:sp>
            <p:nvSpPr>
              <p:cNvPr name="TextBox 31" id="31"/>
              <p:cNvSpPr txBox="true"/>
              <p:nvPr/>
            </p:nvSpPr>
            <p:spPr>
              <a:xfrm>
                <a:off x="0" y="-38100"/>
                <a:ext cx="6350000" cy="24511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355600" y="450850"/>
              <a:ext cx="1143000" cy="660400"/>
            </a:xfrm>
            <a:prstGeom prst="rect">
              <a:avLst/>
            </a:prstGeom>
          </p:spPr>
          <p:txBody>
            <a:bodyPr anchor="t" rtlCol="false" tIns="0" lIns="0" bIns="0" rIns="0">
              <a:spAutoFit/>
            </a:bodyPr>
            <a:lstStyle/>
            <a:p>
              <a:pPr algn="l">
                <a:lnSpc>
                  <a:spcPts val="3562"/>
                </a:lnSpc>
              </a:pPr>
              <a:r>
                <a:rPr lang="en-US" sz="3750" b="true">
                  <a:solidFill>
                    <a:srgbClr val="EF6C2F"/>
                  </a:solidFill>
                  <a:latin typeface="League Spartan"/>
                  <a:ea typeface="League Spartan"/>
                  <a:cs typeface="League Spartan"/>
                  <a:sym typeface="League Spartan"/>
                </a:rPr>
                <a:t>04</a:t>
              </a:r>
            </a:p>
          </p:txBody>
        </p:sp>
        <p:sp>
          <p:nvSpPr>
            <p:cNvPr name="TextBox 33" id="33"/>
            <p:cNvSpPr txBox="true"/>
            <p:nvPr/>
          </p:nvSpPr>
          <p:spPr>
            <a:xfrm rot="0">
              <a:off x="1587500" y="581025"/>
              <a:ext cx="4191000" cy="479425"/>
            </a:xfrm>
            <a:prstGeom prst="rect">
              <a:avLst/>
            </a:prstGeom>
          </p:spPr>
          <p:txBody>
            <a:bodyPr anchor="t" rtlCol="false" tIns="0" lIns="0" bIns="0" rIns="0">
              <a:spAutoFit/>
            </a:bodyPr>
            <a:lstStyle/>
            <a:p>
              <a:pPr algn="l" marL="0" indent="0" lvl="0">
                <a:lnSpc>
                  <a:spcPts val="3037"/>
                </a:lnSpc>
                <a:spcBef>
                  <a:spcPct val="0"/>
                </a:spcBef>
              </a:pPr>
              <a:r>
                <a:rPr lang="en-US" b="true" sz="2250" strike="noStrike" u="none">
                  <a:solidFill>
                    <a:srgbClr val="0B1F3A"/>
                  </a:solidFill>
                  <a:latin typeface="Source Sans 3 Bold"/>
                  <a:ea typeface="Source Sans 3 Bold"/>
                  <a:cs typeface="Source Sans 3 Bold"/>
                  <a:sym typeface="Source Sans 3 Bold"/>
                </a:rPr>
                <a:t>Unmatched training size</a:t>
              </a:r>
            </a:p>
          </p:txBody>
        </p:sp>
        <p:sp>
          <p:nvSpPr>
            <p:cNvPr name="TextBox 34" id="34"/>
            <p:cNvSpPr txBox="true"/>
            <p:nvPr/>
          </p:nvSpPr>
          <p:spPr>
            <a:xfrm rot="0">
              <a:off x="1587500" y="1314450"/>
              <a:ext cx="4191000" cy="358140"/>
            </a:xfrm>
            <a:prstGeom prst="rect">
              <a:avLst/>
            </a:prstGeom>
          </p:spPr>
          <p:txBody>
            <a:bodyPr anchor="t" rtlCol="false" tIns="0" lIns="0" bIns="0" rIns="0">
              <a:spAutoFit/>
            </a:bodyPr>
            <a:lstStyle/>
            <a:p>
              <a:pPr algn="l">
                <a:lnSpc>
                  <a:spcPts val="2242"/>
                </a:lnSpc>
              </a:pPr>
              <a:r>
                <a:rPr lang="en-US" sz="1725">
                  <a:solidFill>
                    <a:srgbClr val="5F6F7F"/>
                  </a:solidFill>
                  <a:latin typeface="Source Sans 3"/>
                  <a:ea typeface="Source Sans 3"/>
                  <a:cs typeface="Source Sans 3"/>
                  <a:sym typeface="Source Sans 3"/>
                </a:rPr>
                <a:t>same conclusion</a:t>
              </a:r>
            </a:p>
          </p:txBody>
        </p:sp>
      </p:grpSp>
      <p:grpSp>
        <p:nvGrpSpPr>
          <p:cNvPr name="Group 35" id="35"/>
          <p:cNvGrpSpPr/>
          <p:nvPr/>
        </p:nvGrpSpPr>
        <p:grpSpPr>
          <a:xfrm rot="0">
            <a:off x="6762750" y="5715000"/>
            <a:ext cx="4762500" cy="1809750"/>
            <a:chOff x="0" y="0"/>
            <a:chExt cx="6350000" cy="2413000"/>
          </a:xfrm>
        </p:grpSpPr>
        <p:grpSp>
          <p:nvGrpSpPr>
            <p:cNvPr name="Group 36" id="36"/>
            <p:cNvGrpSpPr/>
            <p:nvPr/>
          </p:nvGrpSpPr>
          <p:grpSpPr>
            <a:xfrm rot="0">
              <a:off x="0" y="0"/>
              <a:ext cx="6350000" cy="2413000"/>
              <a:chOff x="0" y="0"/>
              <a:chExt cx="6350000" cy="2413000"/>
            </a:xfrm>
          </p:grpSpPr>
          <p:sp>
            <p:nvSpPr>
              <p:cNvPr name="Freeform 37" id="37"/>
              <p:cNvSpPr/>
              <p:nvPr/>
            </p:nvSpPr>
            <p:spPr>
              <a:xfrm flipH="false" flipV="false" rot="0">
                <a:off x="0" y="0"/>
                <a:ext cx="6350000" cy="2413000"/>
              </a:xfrm>
              <a:custGeom>
                <a:avLst/>
                <a:gdLst/>
                <a:ahLst/>
                <a:cxnLst/>
                <a:rect r="r" b="b" t="t" l="l"/>
                <a:pathLst>
                  <a:path h="2413000" w="6350000">
                    <a:moveTo>
                      <a:pt x="0" y="0"/>
                    </a:moveTo>
                    <a:lnTo>
                      <a:pt x="6350000" y="0"/>
                    </a:lnTo>
                    <a:lnTo>
                      <a:pt x="6350000" y="2413000"/>
                    </a:lnTo>
                    <a:lnTo>
                      <a:pt x="0" y="2413000"/>
                    </a:lnTo>
                    <a:close/>
                  </a:path>
                </a:pathLst>
              </a:custGeom>
              <a:solidFill>
                <a:srgbClr val="EEF3F7"/>
              </a:solidFill>
              <a:ln cap="sq">
                <a:noFill/>
                <a:prstDash val="solid"/>
                <a:miter/>
              </a:ln>
            </p:spPr>
          </p:sp>
          <p:sp>
            <p:nvSpPr>
              <p:cNvPr name="TextBox 38" id="38"/>
              <p:cNvSpPr txBox="true"/>
              <p:nvPr/>
            </p:nvSpPr>
            <p:spPr>
              <a:xfrm>
                <a:off x="0" y="-38100"/>
                <a:ext cx="6350000" cy="2451100"/>
              </a:xfrm>
              <a:prstGeom prst="rect">
                <a:avLst/>
              </a:prstGeom>
            </p:spPr>
            <p:txBody>
              <a:bodyPr anchor="ctr" rtlCol="false" tIns="50800" lIns="50800" bIns="50800" rIns="50800"/>
              <a:lstStyle/>
              <a:p>
                <a:pPr algn="l">
                  <a:lnSpc>
                    <a:spcPts val="1679"/>
                  </a:lnSpc>
                </a:pPr>
              </a:p>
            </p:txBody>
          </p:sp>
        </p:grpSp>
        <p:sp>
          <p:nvSpPr>
            <p:cNvPr name="TextBox 39" id="39"/>
            <p:cNvSpPr txBox="true"/>
            <p:nvPr/>
          </p:nvSpPr>
          <p:spPr>
            <a:xfrm rot="0">
              <a:off x="355600" y="450850"/>
              <a:ext cx="1143000" cy="660400"/>
            </a:xfrm>
            <a:prstGeom prst="rect">
              <a:avLst/>
            </a:prstGeom>
          </p:spPr>
          <p:txBody>
            <a:bodyPr anchor="t" rtlCol="false" tIns="0" lIns="0" bIns="0" rIns="0">
              <a:spAutoFit/>
            </a:bodyPr>
            <a:lstStyle/>
            <a:p>
              <a:pPr algn="l">
                <a:lnSpc>
                  <a:spcPts val="3562"/>
                </a:lnSpc>
              </a:pPr>
              <a:r>
                <a:rPr lang="en-US" sz="3750" b="true">
                  <a:solidFill>
                    <a:srgbClr val="EF6C2F"/>
                  </a:solidFill>
                  <a:latin typeface="League Spartan"/>
                  <a:ea typeface="League Spartan"/>
                  <a:cs typeface="League Spartan"/>
                  <a:sym typeface="League Spartan"/>
                </a:rPr>
                <a:t>05</a:t>
              </a:r>
            </a:p>
          </p:txBody>
        </p:sp>
        <p:sp>
          <p:nvSpPr>
            <p:cNvPr name="TextBox 40" id="40"/>
            <p:cNvSpPr txBox="true"/>
            <p:nvPr/>
          </p:nvSpPr>
          <p:spPr>
            <a:xfrm rot="0">
              <a:off x="1587500" y="581025"/>
              <a:ext cx="4191000" cy="479425"/>
            </a:xfrm>
            <a:prstGeom prst="rect">
              <a:avLst/>
            </a:prstGeom>
          </p:spPr>
          <p:txBody>
            <a:bodyPr anchor="t" rtlCol="false" tIns="0" lIns="0" bIns="0" rIns="0">
              <a:spAutoFit/>
            </a:bodyPr>
            <a:lstStyle/>
            <a:p>
              <a:pPr algn="l" marL="0" indent="0" lvl="0">
                <a:lnSpc>
                  <a:spcPts val="3037"/>
                </a:lnSpc>
                <a:spcBef>
                  <a:spcPct val="0"/>
                </a:spcBef>
              </a:pPr>
              <a:r>
                <a:rPr lang="en-US" b="true" sz="2250" strike="noStrike" u="none">
                  <a:solidFill>
                    <a:srgbClr val="0B1F3A"/>
                  </a:solidFill>
                  <a:latin typeface="Source Sans 3 Bold"/>
                  <a:ea typeface="Source Sans 3 Bold"/>
                  <a:cs typeface="Source Sans 3 Bold"/>
                  <a:sym typeface="Source Sans 3 Bold"/>
                </a:rPr>
                <a:t>Pooled AUC (v1 method)</a:t>
              </a:r>
            </a:p>
          </p:txBody>
        </p:sp>
        <p:sp>
          <p:nvSpPr>
            <p:cNvPr name="TextBox 41" id="41"/>
            <p:cNvSpPr txBox="true"/>
            <p:nvPr/>
          </p:nvSpPr>
          <p:spPr>
            <a:xfrm rot="0">
              <a:off x="1587500" y="1314450"/>
              <a:ext cx="4191000" cy="358140"/>
            </a:xfrm>
            <a:prstGeom prst="rect">
              <a:avLst/>
            </a:prstGeom>
          </p:spPr>
          <p:txBody>
            <a:bodyPr anchor="t" rtlCol="false" tIns="0" lIns="0" bIns="0" rIns="0">
              <a:spAutoFit/>
            </a:bodyPr>
            <a:lstStyle/>
            <a:p>
              <a:pPr algn="l">
                <a:lnSpc>
                  <a:spcPts val="2242"/>
                </a:lnSpc>
              </a:pPr>
              <a:r>
                <a:rPr lang="en-US" sz="1725">
                  <a:solidFill>
                    <a:srgbClr val="5F6F7F"/>
                  </a:solidFill>
                  <a:latin typeface="Source Sans 3"/>
                  <a:ea typeface="Source Sans 3"/>
                  <a:cs typeface="Source Sans 3"/>
                  <a:sym typeface="Source Sans 3"/>
                </a:rPr>
                <a:t>same conclusion</a:t>
              </a:r>
            </a:p>
          </p:txBody>
        </p:sp>
      </p:grpSp>
      <p:grpSp>
        <p:nvGrpSpPr>
          <p:cNvPr name="Group 42" id="42"/>
          <p:cNvGrpSpPr/>
          <p:nvPr/>
        </p:nvGrpSpPr>
        <p:grpSpPr>
          <a:xfrm rot="0">
            <a:off x="12287250" y="5715000"/>
            <a:ext cx="4762500" cy="1809750"/>
            <a:chOff x="0" y="0"/>
            <a:chExt cx="6350000" cy="2413000"/>
          </a:xfrm>
        </p:grpSpPr>
        <p:grpSp>
          <p:nvGrpSpPr>
            <p:cNvPr name="Group 43" id="43"/>
            <p:cNvGrpSpPr/>
            <p:nvPr/>
          </p:nvGrpSpPr>
          <p:grpSpPr>
            <a:xfrm rot="0">
              <a:off x="0" y="0"/>
              <a:ext cx="6350000" cy="2413000"/>
              <a:chOff x="0" y="0"/>
              <a:chExt cx="6350000" cy="2413000"/>
            </a:xfrm>
          </p:grpSpPr>
          <p:sp>
            <p:nvSpPr>
              <p:cNvPr name="Freeform 44" id="44"/>
              <p:cNvSpPr/>
              <p:nvPr/>
            </p:nvSpPr>
            <p:spPr>
              <a:xfrm flipH="false" flipV="false" rot="0">
                <a:off x="0" y="0"/>
                <a:ext cx="6350000" cy="2413000"/>
              </a:xfrm>
              <a:custGeom>
                <a:avLst/>
                <a:gdLst/>
                <a:ahLst/>
                <a:cxnLst/>
                <a:rect r="r" b="b" t="t" l="l"/>
                <a:pathLst>
                  <a:path h="2413000" w="6350000">
                    <a:moveTo>
                      <a:pt x="0" y="0"/>
                    </a:moveTo>
                    <a:lnTo>
                      <a:pt x="6350000" y="0"/>
                    </a:lnTo>
                    <a:lnTo>
                      <a:pt x="6350000" y="2413000"/>
                    </a:lnTo>
                    <a:lnTo>
                      <a:pt x="0" y="2413000"/>
                    </a:lnTo>
                    <a:close/>
                  </a:path>
                </a:pathLst>
              </a:custGeom>
              <a:solidFill>
                <a:srgbClr val="0B1F3A"/>
              </a:solidFill>
              <a:ln cap="sq">
                <a:noFill/>
                <a:prstDash val="solid"/>
                <a:miter/>
              </a:ln>
            </p:spPr>
          </p:sp>
          <p:sp>
            <p:nvSpPr>
              <p:cNvPr name="TextBox 45" id="45"/>
              <p:cNvSpPr txBox="true"/>
              <p:nvPr/>
            </p:nvSpPr>
            <p:spPr>
              <a:xfrm>
                <a:off x="0" y="-38100"/>
                <a:ext cx="6350000" cy="2451100"/>
              </a:xfrm>
              <a:prstGeom prst="rect">
                <a:avLst/>
              </a:prstGeom>
            </p:spPr>
            <p:txBody>
              <a:bodyPr anchor="ctr" rtlCol="false" tIns="50800" lIns="50800" bIns="50800" rIns="50800"/>
              <a:lstStyle/>
              <a:p>
                <a:pPr algn="l">
                  <a:lnSpc>
                    <a:spcPts val="1679"/>
                  </a:lnSpc>
                </a:pPr>
              </a:p>
            </p:txBody>
          </p:sp>
        </p:grpSp>
        <p:sp>
          <p:nvSpPr>
            <p:cNvPr name="TextBox 46" id="46"/>
            <p:cNvSpPr txBox="true"/>
            <p:nvPr/>
          </p:nvSpPr>
          <p:spPr>
            <a:xfrm rot="0">
              <a:off x="355600" y="450850"/>
              <a:ext cx="1143000" cy="660400"/>
            </a:xfrm>
            <a:prstGeom prst="rect">
              <a:avLst/>
            </a:prstGeom>
          </p:spPr>
          <p:txBody>
            <a:bodyPr anchor="t" rtlCol="false" tIns="0" lIns="0" bIns="0" rIns="0">
              <a:spAutoFit/>
            </a:bodyPr>
            <a:lstStyle/>
            <a:p>
              <a:pPr algn="l">
                <a:lnSpc>
                  <a:spcPts val="3562"/>
                </a:lnSpc>
              </a:pPr>
              <a:r>
                <a:rPr lang="en-US" sz="3750" b="true">
                  <a:solidFill>
                    <a:srgbClr val="EF6C2F"/>
                  </a:solidFill>
                  <a:latin typeface="League Spartan"/>
                  <a:ea typeface="League Spartan"/>
                  <a:cs typeface="League Spartan"/>
                  <a:sym typeface="League Spartan"/>
                </a:rPr>
                <a:t>06</a:t>
              </a:r>
            </a:p>
          </p:txBody>
        </p:sp>
        <p:sp>
          <p:nvSpPr>
            <p:cNvPr name="TextBox 47" id="47"/>
            <p:cNvSpPr txBox="true"/>
            <p:nvPr/>
          </p:nvSpPr>
          <p:spPr>
            <a:xfrm rot="0">
              <a:off x="1587500" y="581025"/>
              <a:ext cx="4191000" cy="479425"/>
            </a:xfrm>
            <a:prstGeom prst="rect">
              <a:avLst/>
            </a:prstGeom>
          </p:spPr>
          <p:txBody>
            <a:bodyPr anchor="t" rtlCol="false" tIns="0" lIns="0" bIns="0" rIns="0">
              <a:spAutoFit/>
            </a:bodyPr>
            <a:lstStyle/>
            <a:p>
              <a:pPr algn="l" marL="0" indent="0" lvl="0">
                <a:lnSpc>
                  <a:spcPts val="3037"/>
                </a:lnSpc>
                <a:spcBef>
                  <a:spcPct val="0"/>
                </a:spcBef>
              </a:pPr>
              <a:r>
                <a:rPr lang="en-US" b="true" sz="2250" strike="noStrike" u="none">
                  <a:solidFill>
                    <a:srgbClr val="FFFFFF"/>
                  </a:solidFill>
                  <a:latin typeface="Source Sans 3 Bold"/>
                  <a:ea typeface="Source Sans 3 Bold"/>
                  <a:cs typeface="Source Sans 3 Bold"/>
                  <a:sym typeface="Source Sans 3 Bold"/>
                </a:rPr>
                <a:t>Leave-one-session-out</a:t>
              </a:r>
            </a:p>
          </p:txBody>
        </p:sp>
        <p:sp>
          <p:nvSpPr>
            <p:cNvPr name="TextBox 48" id="48"/>
            <p:cNvSpPr txBox="true"/>
            <p:nvPr/>
          </p:nvSpPr>
          <p:spPr>
            <a:xfrm rot="0">
              <a:off x="1587500" y="1314450"/>
              <a:ext cx="4191000" cy="358140"/>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FFFFFF"/>
                  </a:solidFill>
                  <a:latin typeface="Source Sans 3"/>
                  <a:ea typeface="Source Sans 3"/>
                  <a:cs typeface="Source Sans 3"/>
                  <a:sym typeface="Source Sans 3"/>
                </a:rPr>
                <a:t>more data wins (7/9)</a:t>
              </a:r>
            </a:p>
          </p:txBody>
        </p:sp>
      </p:gr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47750" y="714375"/>
            <a:ext cx="14287500" cy="641032"/>
          </a:xfrm>
          <a:prstGeom prst="rect">
            <a:avLst/>
          </a:prstGeom>
        </p:spPr>
        <p:txBody>
          <a:bodyPr anchor="t" rtlCol="false" tIns="0" lIns="0" bIns="0" rIns="0">
            <a:spAutoFit/>
          </a:bodyPr>
          <a:lstStyle/>
          <a:p>
            <a:pPr algn="l">
              <a:lnSpc>
                <a:spcPts val="4882"/>
              </a:lnSpc>
            </a:pPr>
            <a:r>
              <a:rPr lang="en-US" sz="4650" b="true">
                <a:solidFill>
                  <a:srgbClr val="0B1F3A"/>
                </a:solidFill>
                <a:latin typeface="League Spartan"/>
                <a:ea typeface="League Spartan"/>
                <a:cs typeface="League Spartan"/>
                <a:sym typeface="League Spartan"/>
              </a:rPr>
              <a:t>Conclusions and limitations</a:t>
            </a:r>
          </a:p>
        </p:txBody>
      </p:sp>
      <p:grpSp>
        <p:nvGrpSpPr>
          <p:cNvPr name="Group 3" id="3"/>
          <p:cNvGrpSpPr/>
          <p:nvPr/>
        </p:nvGrpSpPr>
        <p:grpSpPr>
          <a:xfrm rot="0">
            <a:off x="1047750" y="1584008"/>
            <a:ext cx="857250" cy="66675"/>
            <a:chOff x="0" y="0"/>
            <a:chExt cx="1143000" cy="88900"/>
          </a:xfrm>
        </p:grpSpPr>
        <p:sp>
          <p:nvSpPr>
            <p:cNvPr name="Freeform 4" id="4"/>
            <p:cNvSpPr/>
            <p:nvPr/>
          </p:nvSpPr>
          <p:spPr>
            <a:xfrm flipH="false" flipV="false" rot="0">
              <a:off x="0" y="0"/>
              <a:ext cx="1143000" cy="88900"/>
            </a:xfrm>
            <a:custGeom>
              <a:avLst/>
              <a:gdLst/>
              <a:ahLst/>
              <a:cxnLst/>
              <a:rect r="r" b="b" t="t" l="l"/>
              <a:pathLst>
                <a:path h="88900" w="1143000">
                  <a:moveTo>
                    <a:pt x="0" y="0"/>
                  </a:moveTo>
                  <a:lnTo>
                    <a:pt x="1143000" y="0"/>
                  </a:lnTo>
                  <a:lnTo>
                    <a:pt x="1143000" y="88900"/>
                  </a:lnTo>
                  <a:lnTo>
                    <a:pt x="0" y="88900"/>
                  </a:lnTo>
                  <a:close/>
                </a:path>
              </a:pathLst>
            </a:custGeom>
            <a:solidFill>
              <a:srgbClr val="EF6C2F"/>
            </a:solidFill>
            <a:ln cap="sq">
              <a:noFill/>
              <a:prstDash val="solid"/>
              <a:miter/>
            </a:ln>
          </p:spPr>
        </p:sp>
        <p:sp>
          <p:nvSpPr>
            <p:cNvPr name="TextBox 5" id="5"/>
            <p:cNvSpPr txBox="true"/>
            <p:nvPr/>
          </p:nvSpPr>
          <p:spPr>
            <a:xfrm>
              <a:off x="0" y="-38100"/>
              <a:ext cx="1143000" cy="1270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1793558"/>
            <a:ext cx="14287500" cy="273367"/>
          </a:xfrm>
          <a:prstGeom prst="rect">
            <a:avLst/>
          </a:prstGeom>
        </p:spPr>
        <p:txBody>
          <a:bodyPr anchor="t" rtlCol="false" tIns="0" lIns="0" bIns="0" rIns="0">
            <a:spAutoFit/>
          </a:bodyPr>
          <a:lstStyle/>
          <a:p>
            <a:pPr algn="l">
              <a:lnSpc>
                <a:spcPts val="2242"/>
              </a:lnSpc>
            </a:pPr>
            <a:r>
              <a:rPr lang="en-US" sz="1725">
                <a:solidFill>
                  <a:srgbClr val="5F6F7F"/>
                </a:solidFill>
                <a:latin typeface="Source Sans 3"/>
                <a:ea typeface="Source Sans 3"/>
                <a:cs typeface="Source Sans 3"/>
                <a:sym typeface="Source Sans 3"/>
              </a:rPr>
              <a:t>An honest negative result — bounded by this dataset, task and evaluation.</a:t>
            </a:r>
          </a:p>
        </p:txBody>
      </p:sp>
      <p:grpSp>
        <p:nvGrpSpPr>
          <p:cNvPr name="Group 7" id="7"/>
          <p:cNvGrpSpPr/>
          <p:nvPr/>
        </p:nvGrpSpPr>
        <p:grpSpPr>
          <a:xfrm rot="0">
            <a:off x="1047750" y="3048000"/>
            <a:ext cx="7620000" cy="6362700"/>
            <a:chOff x="0" y="0"/>
            <a:chExt cx="10160000" cy="8483600"/>
          </a:xfrm>
        </p:grpSpPr>
        <p:grpSp>
          <p:nvGrpSpPr>
            <p:cNvPr name="Group 8" id="8"/>
            <p:cNvGrpSpPr/>
            <p:nvPr/>
          </p:nvGrpSpPr>
          <p:grpSpPr>
            <a:xfrm rot="0">
              <a:off x="0" y="0"/>
              <a:ext cx="10160000" cy="8483600"/>
              <a:chOff x="0" y="0"/>
              <a:chExt cx="10160000" cy="8483600"/>
            </a:xfrm>
          </p:grpSpPr>
          <p:sp>
            <p:nvSpPr>
              <p:cNvPr name="Freeform 9" id="9"/>
              <p:cNvSpPr/>
              <p:nvPr/>
            </p:nvSpPr>
            <p:spPr>
              <a:xfrm flipH="false" flipV="false" rot="0">
                <a:off x="0" y="0"/>
                <a:ext cx="10160000" cy="8483600"/>
              </a:xfrm>
              <a:custGeom>
                <a:avLst/>
                <a:gdLst/>
                <a:ahLst/>
                <a:cxnLst/>
                <a:rect r="r" b="b" t="t" l="l"/>
                <a:pathLst>
                  <a:path h="8483600" w="10160000">
                    <a:moveTo>
                      <a:pt x="0" y="0"/>
                    </a:moveTo>
                    <a:lnTo>
                      <a:pt x="10160000" y="0"/>
                    </a:lnTo>
                    <a:lnTo>
                      <a:pt x="10160000" y="8483600"/>
                    </a:lnTo>
                    <a:lnTo>
                      <a:pt x="0" y="8483600"/>
                    </a:lnTo>
                    <a:close/>
                  </a:path>
                </a:pathLst>
              </a:custGeom>
              <a:solidFill>
                <a:srgbClr val="0B1F3A"/>
              </a:solidFill>
              <a:ln cap="sq">
                <a:noFill/>
                <a:prstDash val="solid"/>
                <a:miter/>
              </a:ln>
            </p:spPr>
          </p:sp>
          <p:sp>
            <p:nvSpPr>
              <p:cNvPr name="TextBox 10" id="10"/>
              <p:cNvSpPr txBox="true"/>
              <p:nvPr/>
            </p:nvSpPr>
            <p:spPr>
              <a:xfrm>
                <a:off x="0" y="-38100"/>
                <a:ext cx="10160000" cy="852170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698500" y="755650"/>
              <a:ext cx="8763000" cy="669290"/>
            </a:xfrm>
            <a:prstGeom prst="rect">
              <a:avLst/>
            </a:prstGeom>
          </p:spPr>
          <p:txBody>
            <a:bodyPr anchor="t" rtlCol="false" tIns="0" lIns="0" bIns="0" rIns="0">
              <a:spAutoFit/>
            </a:bodyPr>
            <a:lstStyle/>
            <a:p>
              <a:pPr algn="l">
                <a:lnSpc>
                  <a:spcPts val="3780"/>
                </a:lnSpc>
              </a:pPr>
              <a:r>
                <a:rPr lang="en-US" sz="3600" b="true">
                  <a:solidFill>
                    <a:srgbClr val="FFFFFF"/>
                  </a:solidFill>
                  <a:latin typeface="League Spartan"/>
                  <a:ea typeface="League Spartan"/>
                  <a:cs typeface="League Spartan"/>
                  <a:sym typeface="League Spartan"/>
                </a:rPr>
                <a:t>What the data support</a:t>
              </a:r>
            </a:p>
          </p:txBody>
        </p:sp>
        <p:sp>
          <p:nvSpPr>
            <p:cNvPr name="TextBox 12" id="12"/>
            <p:cNvSpPr txBox="true"/>
            <p:nvPr/>
          </p:nvSpPr>
          <p:spPr>
            <a:xfrm rot="0">
              <a:off x="698500" y="2257425"/>
              <a:ext cx="8509000" cy="2945130"/>
            </a:xfrm>
            <a:prstGeom prst="rect">
              <a:avLst/>
            </a:prstGeom>
          </p:spPr>
          <p:txBody>
            <a:bodyPr anchor="t" rtlCol="false" tIns="0" lIns="0" bIns="0" rIns="0">
              <a:spAutoFit/>
            </a:bodyPr>
            <a:lstStyle/>
            <a:p>
              <a:pPr algn="l" marL="0" indent="0" lvl="0">
                <a:lnSpc>
                  <a:spcPts val="2936"/>
                </a:lnSpc>
                <a:spcBef>
                  <a:spcPct val="0"/>
                </a:spcBef>
              </a:pPr>
              <a:r>
                <a:rPr lang="en-US" sz="2175" strike="noStrike" u="none">
                  <a:solidFill>
                    <a:srgbClr val="FFFFFF"/>
                  </a:solidFill>
                  <a:latin typeface="Source Sans 3"/>
                  <a:ea typeface="Source Sans 3"/>
                  <a:cs typeface="Source Sans 3"/>
                  <a:sym typeface="Source Sans 3"/>
                </a:rPr>
                <a:t>• Contralateral mu/beta ERD is present every day.</a:t>
              </a:r>
            </a:p>
            <a:p>
              <a:pPr algn="l" marL="0" indent="0" lvl="0">
                <a:lnSpc>
                  <a:spcPts val="2936"/>
                </a:lnSpc>
                <a:spcBef>
                  <a:spcPct val="0"/>
                </a:spcBef>
              </a:pPr>
              <a:r>
                <a:rPr lang="en-US" sz="2175" strike="noStrike" u="none">
                  <a:solidFill>
                    <a:srgbClr val="FFFFFF"/>
                  </a:solidFill>
                  <a:latin typeface="Source Sans 3"/>
                  <a:ea typeface="Source Sans 3"/>
                  <a:cs typeface="Source Sans 3"/>
                  <a:sym typeface="Source Sans 3"/>
                </a:rPr>
                <a:t>• The overall power level shifts between days.</a:t>
              </a:r>
            </a:p>
            <a:p>
              <a:pPr algn="l" marL="0" indent="0" lvl="0">
                <a:lnSpc>
                  <a:spcPts val="2936"/>
                </a:lnSpc>
                <a:spcBef>
                  <a:spcPct val="0"/>
                </a:spcBef>
              </a:pPr>
              <a:r>
                <a:rPr lang="en-US" sz="2175" strike="noStrike" u="none">
                  <a:solidFill>
                    <a:srgbClr val="FFFFFF"/>
                  </a:solidFill>
                  <a:latin typeface="Source Sans 3"/>
                  <a:ea typeface="Source Sans 3"/>
                  <a:cs typeface="Source Sans 3"/>
                  <a:sym typeface="Source Sans 3"/>
                </a:rPr>
                <a:t>• Left/right separation (AUC) does not drop once training size is matched.</a:t>
              </a:r>
            </a:p>
            <a:p>
              <a:pPr algn="l" marL="0" indent="0" lvl="0">
                <a:lnSpc>
                  <a:spcPts val="2936"/>
                </a:lnSpc>
                <a:spcBef>
                  <a:spcPct val="0"/>
                </a:spcBef>
              </a:pPr>
              <a:r>
                <a:rPr lang="en-US" sz="2175" strike="noStrike" u="none">
                  <a:solidFill>
                    <a:srgbClr val="FFFFFF"/>
                  </a:solidFill>
                  <a:latin typeface="Source Sans 3"/>
                  <a:ea typeface="Source Sans 3"/>
                  <a:cs typeface="Source Sans 3"/>
                  <a:sym typeface="Source Sans 3"/>
                </a:rPr>
                <a:t>• A small threshold shift in feedback sessions: recalibrate the bias, not the decoder.</a:t>
              </a:r>
            </a:p>
          </p:txBody>
        </p:sp>
      </p:grpSp>
      <p:grpSp>
        <p:nvGrpSpPr>
          <p:cNvPr name="Group 13" id="13"/>
          <p:cNvGrpSpPr/>
          <p:nvPr/>
        </p:nvGrpSpPr>
        <p:grpSpPr>
          <a:xfrm rot="0">
            <a:off x="9620250" y="3048000"/>
            <a:ext cx="7620000" cy="6362700"/>
            <a:chOff x="0" y="0"/>
            <a:chExt cx="10160000" cy="8483600"/>
          </a:xfrm>
        </p:grpSpPr>
        <p:grpSp>
          <p:nvGrpSpPr>
            <p:cNvPr name="Group 14" id="14"/>
            <p:cNvGrpSpPr/>
            <p:nvPr/>
          </p:nvGrpSpPr>
          <p:grpSpPr>
            <a:xfrm rot="0">
              <a:off x="0" y="0"/>
              <a:ext cx="10160000" cy="8483600"/>
              <a:chOff x="0" y="0"/>
              <a:chExt cx="10160000" cy="8483600"/>
            </a:xfrm>
          </p:grpSpPr>
          <p:sp>
            <p:nvSpPr>
              <p:cNvPr name="Freeform 15" id="15"/>
              <p:cNvSpPr/>
              <p:nvPr/>
            </p:nvSpPr>
            <p:spPr>
              <a:xfrm flipH="false" flipV="false" rot="0">
                <a:off x="0" y="0"/>
                <a:ext cx="10160000" cy="8483600"/>
              </a:xfrm>
              <a:custGeom>
                <a:avLst/>
                <a:gdLst/>
                <a:ahLst/>
                <a:cxnLst/>
                <a:rect r="r" b="b" t="t" l="l"/>
                <a:pathLst>
                  <a:path h="8483600" w="10160000">
                    <a:moveTo>
                      <a:pt x="0" y="0"/>
                    </a:moveTo>
                    <a:lnTo>
                      <a:pt x="10160000" y="0"/>
                    </a:lnTo>
                    <a:lnTo>
                      <a:pt x="10160000" y="8483600"/>
                    </a:lnTo>
                    <a:lnTo>
                      <a:pt x="0" y="8483600"/>
                    </a:lnTo>
                    <a:close/>
                  </a:path>
                </a:pathLst>
              </a:custGeom>
              <a:solidFill>
                <a:srgbClr val="FFF3EB"/>
              </a:solidFill>
              <a:ln cap="sq">
                <a:noFill/>
                <a:prstDash val="solid"/>
                <a:miter/>
              </a:ln>
            </p:spPr>
          </p:sp>
          <p:sp>
            <p:nvSpPr>
              <p:cNvPr name="TextBox 16" id="16"/>
              <p:cNvSpPr txBox="true"/>
              <p:nvPr/>
            </p:nvSpPr>
            <p:spPr>
              <a:xfrm>
                <a:off x="0" y="-38100"/>
                <a:ext cx="10160000" cy="85217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698500" y="755650"/>
              <a:ext cx="8763000" cy="669290"/>
            </a:xfrm>
            <a:prstGeom prst="rect">
              <a:avLst/>
            </a:prstGeom>
          </p:spPr>
          <p:txBody>
            <a:bodyPr anchor="t" rtlCol="false" tIns="0" lIns="0" bIns="0" rIns="0">
              <a:spAutoFit/>
            </a:bodyPr>
            <a:lstStyle/>
            <a:p>
              <a:pPr algn="l">
                <a:lnSpc>
                  <a:spcPts val="3780"/>
                </a:lnSpc>
              </a:pPr>
              <a:r>
                <a:rPr lang="en-US" sz="3600" b="true">
                  <a:solidFill>
                    <a:srgbClr val="0B1F3A"/>
                  </a:solidFill>
                  <a:latin typeface="League Spartan"/>
                  <a:ea typeface="League Spartan"/>
                  <a:cs typeface="League Spartan"/>
                  <a:sym typeface="League Spartan"/>
                </a:rPr>
                <a:t>What remains open</a:t>
              </a:r>
            </a:p>
          </p:txBody>
        </p:sp>
        <p:sp>
          <p:nvSpPr>
            <p:cNvPr name="TextBox 18" id="18"/>
            <p:cNvSpPr txBox="true"/>
            <p:nvPr/>
          </p:nvSpPr>
          <p:spPr>
            <a:xfrm rot="0">
              <a:off x="698500" y="2257425"/>
              <a:ext cx="8509000" cy="2945130"/>
            </a:xfrm>
            <a:prstGeom prst="rect">
              <a:avLst/>
            </a:prstGeom>
          </p:spPr>
          <p:txBody>
            <a:bodyPr anchor="t" rtlCol="false" tIns="0" lIns="0" bIns="0" rIns="0">
              <a:spAutoFit/>
            </a:bodyPr>
            <a:lstStyle/>
            <a:p>
              <a:pPr algn="l" marL="0" indent="0" lvl="0">
                <a:lnSpc>
                  <a:spcPts val="2936"/>
                </a:lnSpc>
                <a:spcBef>
                  <a:spcPct val="0"/>
                </a:spcBef>
              </a:pPr>
              <a:r>
                <a:rPr lang="en-US" sz="2175" strike="noStrike" u="none">
                  <a:solidFill>
                    <a:srgbClr val="0B1F3A"/>
                  </a:solidFill>
                  <a:latin typeface="Source Sans 3"/>
                  <a:ea typeface="Source Sans 3"/>
                  <a:cs typeface="Source Sans 3"/>
                  <a:sym typeface="Source Sans 3"/>
                </a:rPr>
                <a:t>• Only 9 subjects and 3 bipolar channels; no source localisation.</a:t>
              </a:r>
            </a:p>
            <a:p>
              <a:pPr algn="l" marL="0" indent="0" lvl="0">
                <a:lnSpc>
                  <a:spcPts val="2936"/>
                </a:lnSpc>
                <a:spcBef>
                  <a:spcPct val="0"/>
                </a:spcBef>
              </a:pPr>
              <a:r>
                <a:rPr lang="en-US" sz="2175" strike="noStrike" u="none">
                  <a:solidFill>
                    <a:srgbClr val="0B1F3A"/>
                  </a:solidFill>
                  <a:latin typeface="Source Sans 3"/>
                  <a:ea typeface="Source Sans 3"/>
                  <a:cs typeface="Source Sans 3"/>
                  <a:sym typeface="Source Sans 3"/>
                </a:rPr>
                <a:t>• One dataset, 5 sessions over a short period.</a:t>
              </a:r>
            </a:p>
            <a:p>
              <a:pPr algn="l" marL="0" indent="0" lvl="0">
                <a:lnSpc>
                  <a:spcPts val="2936"/>
                </a:lnSpc>
                <a:spcBef>
                  <a:spcPct val="0"/>
                </a:spcBef>
              </a:pPr>
              <a:r>
                <a:rPr lang="en-US" sz="2175" strike="noStrike" u="none">
                  <a:solidFill>
                    <a:srgbClr val="0B1F3A"/>
                  </a:solidFill>
                  <a:latin typeface="Source Sans 3"/>
                  <a:ea typeface="Source Sans 3"/>
                  <a:cs typeface="Source Sans 3"/>
                  <a:sym typeface="Source Sans 3"/>
                </a:rPr>
                <a:t>• Subjects improve with feedback (AUC 0.65–0.73 → 0.84–0.90), which may mask slow drift.</a:t>
              </a:r>
            </a:p>
            <a:p>
              <a:pPr algn="l" marL="0" indent="0" lvl="0">
                <a:lnSpc>
                  <a:spcPts val="2936"/>
                </a:lnSpc>
                <a:spcBef>
                  <a:spcPct val="0"/>
                </a:spcBef>
              </a:pPr>
              <a:r>
                <a:rPr lang="en-US" sz="2175" strike="noStrike" u="none">
                  <a:solidFill>
                    <a:srgbClr val="0B1F3A"/>
                  </a:solidFill>
                  <a:latin typeface="Source Sans 3"/>
                  <a:ea typeface="Source Sans 3"/>
                  <a:cs typeface="Source Sans 3"/>
                  <a:sym typeface="Source Sans 3"/>
                </a:rPr>
                <a:t>• Methods limited to notebooks 00–06.</a:t>
              </a:r>
            </a:p>
          </p:txBody>
        </p:sp>
      </p:grpSp>
    </p:spTree>
  </p:cSld>
  <p:clrMapOvr>
    <a:masterClrMapping/>
  </p:clrMapOvr>
</p:sld>
</file>

<file path=ppt/slides/slide16.xml><?xml version="1.0" encoding="utf-8"?>
<p:sld xmlns:p="http://schemas.openxmlformats.org/presentationml/2006/main" xmlns:a="http://schemas.openxmlformats.org/drawingml/2006/main">
  <p:cSld>
    <p:bg>
      <p:bgPr>
        <a:solidFill>
          <a:srgbClr val="0B1F3A"/>
        </a:solidFill>
      </p:bgPr>
    </p:bg>
    <p:spTree>
      <p:nvGrpSpPr>
        <p:cNvPr id="1" name=""/>
        <p:cNvGrpSpPr/>
        <p:nvPr/>
      </p:nvGrpSpPr>
      <p:grpSpPr>
        <a:xfrm>
          <a:off x="0" y="0"/>
          <a:ext cx="0" cy="0"/>
          <a:chOff x="0" y="0"/>
          <a:chExt cx="0" cy="0"/>
        </a:xfrm>
      </p:grpSpPr>
      <p:grpSp>
        <p:nvGrpSpPr>
          <p:cNvPr name="Group 2" id="2"/>
          <p:cNvGrpSpPr/>
          <p:nvPr/>
        </p:nvGrpSpPr>
        <p:grpSpPr>
          <a:xfrm rot="0">
            <a:off x="0" y="0"/>
            <a:ext cx="266700" cy="10287000"/>
            <a:chOff x="0" y="0"/>
            <a:chExt cx="355600" cy="13716000"/>
          </a:xfrm>
        </p:grpSpPr>
        <p:sp>
          <p:nvSpPr>
            <p:cNvPr name="Freeform 3" id="3"/>
            <p:cNvSpPr/>
            <p:nvPr/>
          </p:nvSpPr>
          <p:spPr>
            <a:xfrm flipH="false" flipV="false" rot="0">
              <a:off x="0" y="0"/>
              <a:ext cx="355600" cy="13716000"/>
            </a:xfrm>
            <a:custGeom>
              <a:avLst/>
              <a:gdLst/>
              <a:ahLst/>
              <a:cxnLst/>
              <a:rect r="r" b="b" t="t" l="l"/>
              <a:pathLst>
                <a:path h="13716000" w="355600">
                  <a:moveTo>
                    <a:pt x="0" y="0"/>
                  </a:moveTo>
                  <a:lnTo>
                    <a:pt x="355600" y="0"/>
                  </a:lnTo>
                  <a:lnTo>
                    <a:pt x="355600" y="13716000"/>
                  </a:lnTo>
                  <a:lnTo>
                    <a:pt x="0" y="13716000"/>
                  </a:lnTo>
                  <a:close/>
                </a:path>
              </a:pathLst>
            </a:custGeom>
            <a:solidFill>
              <a:srgbClr val="EF6C2F"/>
            </a:solidFill>
            <a:ln cap="sq">
              <a:noFill/>
              <a:prstDash val="solid"/>
              <a:miter/>
            </a:ln>
          </p:spPr>
        </p:sp>
        <p:sp>
          <p:nvSpPr>
            <p:cNvPr name="TextBox 4" id="4"/>
            <p:cNvSpPr txBox="true"/>
            <p:nvPr/>
          </p:nvSpPr>
          <p:spPr>
            <a:xfrm>
              <a:off x="0" y="-38100"/>
              <a:ext cx="3556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1619250" y="2266950"/>
            <a:ext cx="11430000" cy="2482977"/>
          </a:xfrm>
          <a:prstGeom prst="rect">
            <a:avLst/>
          </a:prstGeom>
        </p:spPr>
        <p:txBody>
          <a:bodyPr anchor="t" rtlCol="false" tIns="0" lIns="0" bIns="0" rIns="0">
            <a:spAutoFit/>
          </a:bodyPr>
          <a:lstStyle/>
          <a:p>
            <a:pPr algn="l">
              <a:lnSpc>
                <a:spcPts val="9639"/>
              </a:lnSpc>
            </a:pPr>
            <a:r>
              <a:rPr lang="en-US" sz="9450" b="true">
                <a:solidFill>
                  <a:srgbClr val="FFFFFF"/>
                </a:solidFill>
                <a:latin typeface="League Spartan"/>
                <a:ea typeface="League Spartan"/>
                <a:cs typeface="League Spartan"/>
                <a:sym typeface="League Spartan"/>
              </a:rPr>
              <a:t>Thank you —</a:t>
            </a:r>
          </a:p>
          <a:p>
            <a:pPr algn="l">
              <a:lnSpc>
                <a:spcPts val="9639"/>
              </a:lnSpc>
            </a:pPr>
            <a:r>
              <a:rPr lang="en-US" sz="9450" b="true">
                <a:solidFill>
                  <a:srgbClr val="FFFFFF"/>
                </a:solidFill>
                <a:latin typeface="League Spartan"/>
                <a:ea typeface="League Spartan"/>
                <a:cs typeface="League Spartan"/>
                <a:sym typeface="League Spartan"/>
              </a:rPr>
              <a:t>questions?</a:t>
            </a:r>
          </a:p>
        </p:txBody>
      </p:sp>
      <p:sp>
        <p:nvSpPr>
          <p:cNvPr name="TextBox 6" id="6"/>
          <p:cNvSpPr txBox="true"/>
          <p:nvPr/>
        </p:nvSpPr>
        <p:spPr>
          <a:xfrm rot="0">
            <a:off x="1714500" y="6162675"/>
            <a:ext cx="11430000" cy="408622"/>
          </a:xfrm>
          <a:prstGeom prst="rect">
            <a:avLst/>
          </a:prstGeom>
        </p:spPr>
        <p:txBody>
          <a:bodyPr anchor="t" rtlCol="false" tIns="0" lIns="0" bIns="0" rIns="0">
            <a:spAutoFit/>
          </a:bodyPr>
          <a:lstStyle/>
          <a:p>
            <a:pPr algn="l">
              <a:lnSpc>
                <a:spcPts val="3442"/>
              </a:lnSpc>
            </a:pPr>
            <a:r>
              <a:rPr lang="en-US" sz="2550">
                <a:solidFill>
                  <a:srgbClr val="FFFFFF"/>
                </a:solidFill>
                <a:latin typeface="Source Sans 3"/>
                <a:ea typeface="Source Sans 3"/>
                <a:cs typeface="Source Sans 3"/>
                <a:sym typeface="Source Sans 3"/>
              </a:rPr>
              <a:t>Sultanbek · Aruzhan · Daniela · Aidarkhan</a:t>
            </a:r>
          </a:p>
        </p:txBody>
      </p:sp>
      <p:sp>
        <p:nvSpPr>
          <p:cNvPr name="TextBox 7" id="7"/>
          <p:cNvSpPr txBox="true"/>
          <p:nvPr/>
        </p:nvSpPr>
        <p:spPr>
          <a:xfrm rot="0">
            <a:off x="1714500" y="7791450"/>
            <a:ext cx="9525000" cy="549593"/>
          </a:xfrm>
          <a:prstGeom prst="rect">
            <a:avLst/>
          </a:prstGeom>
        </p:spPr>
        <p:txBody>
          <a:bodyPr anchor="t" rtlCol="false" tIns="0" lIns="0" bIns="0" rIns="0">
            <a:spAutoFit/>
          </a:bodyPr>
          <a:lstStyle/>
          <a:p>
            <a:pPr algn="l">
              <a:lnSpc>
                <a:spcPts val="2242"/>
              </a:lnSpc>
            </a:pPr>
            <a:r>
              <a:rPr lang="en-US" sz="1725">
                <a:solidFill>
                  <a:srgbClr val="FFFFFF"/>
                </a:solidFill>
                <a:latin typeface="Source Sans 3"/>
                <a:ea typeface="Source Sans 3"/>
                <a:cs typeface="Source Sans 3"/>
                <a:sym typeface="Source Sans 3"/>
              </a:rPr>
              <a:t>ROBT613 BCI Workshop notebooks 00–06</a:t>
            </a:r>
          </a:p>
          <a:p>
            <a:pPr algn="l">
              <a:lnSpc>
                <a:spcPts val="2242"/>
              </a:lnSpc>
            </a:pPr>
            <a:r>
              <a:rPr lang="en-US" sz="1725">
                <a:solidFill>
                  <a:srgbClr val="FFFFFF"/>
                </a:solidFill>
                <a:latin typeface="Source Sans 3"/>
                <a:ea typeface="Source Sans 3"/>
                <a:cs typeface="Source Sans 3"/>
                <a:sym typeface="Source Sans 3"/>
              </a:rPr>
              <a:t>Dataset: BNCI2014-004</a:t>
            </a:r>
          </a:p>
        </p:txBody>
      </p:sp>
      <p:grpSp>
        <p:nvGrpSpPr>
          <p:cNvPr name="Group 8" id="8"/>
          <p:cNvGrpSpPr/>
          <p:nvPr/>
        </p:nvGrpSpPr>
        <p:grpSpPr>
          <a:xfrm rot="0">
            <a:off x="13811250" y="1714500"/>
            <a:ext cx="2857500" cy="2857500"/>
            <a:chOff x="0" y="0"/>
            <a:chExt cx="3810000" cy="3810000"/>
          </a:xfrm>
        </p:grpSpPr>
        <p:sp>
          <p:nvSpPr>
            <p:cNvPr name="Freeform 9" id="9"/>
            <p:cNvSpPr/>
            <p:nvPr/>
          </p:nvSpPr>
          <p:spPr>
            <a:xfrm flipH="false" flipV="false" rot="0">
              <a:off x="0" y="0"/>
              <a:ext cx="3810000" cy="3810000"/>
            </a:xfrm>
            <a:custGeom>
              <a:avLst/>
              <a:gdLst/>
              <a:ahLst/>
              <a:cxnLst/>
              <a:rect r="r" b="b" t="t" l="l"/>
              <a:pathLst>
                <a:path h="3810000" w="3810000">
                  <a:moveTo>
                    <a:pt x="1905000" y="0"/>
                  </a:moveTo>
                  <a:cubicBezTo>
                    <a:pt x="2957102" y="0"/>
                    <a:pt x="3810000" y="852898"/>
                    <a:pt x="3810000" y="1905000"/>
                  </a:cubicBezTo>
                  <a:cubicBezTo>
                    <a:pt x="3810000" y="2957102"/>
                    <a:pt x="2957102" y="3810000"/>
                    <a:pt x="1905000" y="3810000"/>
                  </a:cubicBezTo>
                  <a:cubicBezTo>
                    <a:pt x="852898" y="3810000"/>
                    <a:pt x="0" y="2957102"/>
                    <a:pt x="0" y="1905000"/>
                  </a:cubicBezTo>
                  <a:cubicBezTo>
                    <a:pt x="0" y="852898"/>
                    <a:pt x="852898" y="0"/>
                    <a:pt x="1905000" y="0"/>
                  </a:cubicBezTo>
                  <a:close/>
                </a:path>
              </a:pathLst>
            </a:custGeom>
            <a:solidFill>
              <a:srgbClr val="EF6C2F"/>
            </a:solidFill>
            <a:ln cap="sq">
              <a:noFill/>
              <a:prstDash val="solid"/>
              <a:miter/>
            </a:ln>
          </p:spPr>
        </p:sp>
        <p:sp>
          <p:nvSpPr>
            <p:cNvPr name="TextBox 10" id="10"/>
            <p:cNvSpPr txBox="true"/>
            <p:nvPr/>
          </p:nvSpPr>
          <p:spPr>
            <a:xfrm>
              <a:off x="0" y="-38100"/>
              <a:ext cx="3810000" cy="3848100"/>
            </a:xfrm>
            <a:prstGeom prst="rect">
              <a:avLst/>
            </a:prstGeom>
          </p:spPr>
          <p:txBody>
            <a:bodyPr anchor="ctr" rtlCol="false" tIns="50800" lIns="50800" bIns="50800" rIns="50800"/>
            <a:lstStyle/>
            <a:p>
              <a:pPr algn="l">
                <a:lnSpc>
                  <a:spcPts val="167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DAHZrci5Bjc</dc:identifier>
  <dcterms:modified xsi:type="dcterms:W3CDTF">2011-08-01T06:04:30Z</dcterms:modified>
  <cp:revision>1</cp:revision>
  <dc:title>Session-to-Session Drift</dc:title>
</cp:coreProperties>
</file>